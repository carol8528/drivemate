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B56405-9558-48B4-AF26-DE0B6F426617}" styleName="表样式 1 17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band2V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firstRow>
    <a:ne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neCell>
    <a:n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15秒：一句话定位。</a:t>
            </a:r>
          </a:p>
          <a:p>
            <a:r>
              <a:t>[Sources]</a:t>
            </a:r>
          </a:p>
          <a:p>
            <a:r>
              <a:t>- README.md (DriveMate V8 current product scope)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25秒：讲清两类目标用户，并主动说明多模态数据是演示样例而非实车采集。</a:t>
            </a:r>
          </a:p>
          <a:p>
            <a:r>
              <a:t>[Sources]</a:t>
            </a:r>
          </a:p>
          <a:p>
            <a:r>
              <a:t>- README.md (target users and data boundary)</a:t>
            </a:r>
          </a:p>
          <a:p>
            <a:r>
              <a:t>- data/samples/multimodal_snapshot.json (reproducible sample contract)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30秒：左看状态，中看过程，右侧完成交互；产品流程从请求到回读。</a:t>
            </a:r>
          </a:p>
          <a:p>
            <a:r>
              <a:t>[Sources]</a:t>
            </a:r>
          </a:p>
          <a:p>
            <a:r>
              <a:t>- docs/design.md (three-pane layout and six center tabs)</a:t>
            </a:r>
          </a:p>
          <a:p>
            <a:r>
              <a:t>- Source template slide 4 (product screenshot)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35秒：说明 Agent 四层架构、工具调用链和风险边界。</a:t>
            </a:r>
          </a:p>
          <a:p>
            <a:r>
              <a:t>[Sources]</a:t>
            </a:r>
          </a:p>
          <a:p>
            <a:r>
              <a:t>- README.md (architecture and REST boundary)</a:t>
            </a:r>
          </a:p>
          <a:p>
            <a:r>
              <a:t>- docs/architecture.md (service boundary)</a:t>
            </a:r>
          </a:p>
          <a:p>
            <a:r>
              <a:t>- docs/design.md (state and safety boundaries)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30秒：评委意见已转化为可现场复核成果；指标是验收目标，不是量产业务结果。</a:t>
            </a:r>
          </a:p>
          <a:p>
            <a:r>
              <a:t>[Sources]</a:t>
            </a:r>
          </a:p>
          <a:p>
            <a:r>
              <a:t>- docs/archive/reviewer-optimization-v5.md (reviewer feedback history)</a:t>
            </a:r>
          </a:p>
          <a:p>
            <a:r>
              <a:t>- README.md (V8 validation metrics and completion state)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25秒：从赛事演示到沙箱联调，再到满足升级条件后的受控试点和推广。</a:t>
            </a:r>
          </a:p>
          <a:p>
            <a:r>
              <a:t>[Sources]</a:t>
            </a:r>
          </a:p>
          <a:p>
            <a:r>
              <a:t>- README.md (three-stage promotion plan and boundary)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20秒：按复赛六项权重进行证据化自评；总分为团队自评，不代表评委结果。</a:t>
            </a:r>
          </a:p>
          <a:p>
            <a:r>
              <a:t>[Sources]</a:t>
            </a:r>
          </a:p>
          <a:p>
            <a:r>
              <a:t>- Source template slide 6 (review dimensions and weights)</a:t>
            </a:r>
          </a:p>
          <a:p>
            <a:r>
              <a:t>- README.md, LICENSE, CONTRIBUTING.md, THIRD_PARTY_NOTICES.md (current evidence)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2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8915" y="980440"/>
            <a:ext cx="4994275" cy="4994275"/>
          </a:xfrm>
          <a:prstGeom prst="rect">
            <a:avLst/>
          </a:prstGeom>
        </p:spPr>
      </p:pic>
      <p:sp>
        <p:nvSpPr>
          <p:cNvPr id="6" name="cover-kicker"/>
          <p:cNvSpPr>
            <a:spLocks noGrp="1"/>
          </p:cNvSpPr>
          <p:nvPr/>
        </p:nvSpPr>
        <p:spPr>
          <a:xfrm>
            <a:off x="767080" y="1124585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4778F5"/>
                </a:solidFill>
              </a:defRPr>
            </a:pPr>
            <a:r>
              <a:rPr sz="1000" b="1">
                <a:solidFill>
                  <a:srgbClr val="4778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DESIGN for GOAI</a:t>
            </a:r>
            <a:endParaRPr sz="1000" b="1">
              <a:solidFill>
                <a:srgbClr val="4778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cover-title"/>
          <p:cNvSpPr>
            <a:spLocks noGrp="1"/>
          </p:cNvSpPr>
          <p:nvPr/>
        </p:nvSpPr>
        <p:spPr>
          <a:xfrm>
            <a:off x="685800" y="2057400"/>
            <a:ext cx="5334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4350" b="1">
                <a:solidFill>
                  <a:srgbClr val="203047"/>
                </a:solidFill>
              </a:defRPr>
            </a:pPr>
            <a:r>
              <a:rPr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DriveMate</a:t>
            </a:r>
            <a:endParaRPr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4350" b="1">
                <a:solidFill>
                  <a:srgbClr val="203047"/>
                </a:solidFill>
              </a:defRPr>
            </a:pPr>
            <a:r>
              <a:rPr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安全执行可审计</a:t>
            </a:r>
            <a:endParaRPr sz="435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cover-sub"/>
          <p:cNvSpPr>
            <a:spLocks noGrp="1"/>
          </p:cNvSpPr>
          <p:nvPr/>
        </p:nvSpPr>
        <p:spPr>
          <a:xfrm>
            <a:off x="767080" y="3717290"/>
            <a:ext cx="591312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4350" b="1">
                <a:solidFill>
                  <a:srgbClr val="203047"/>
                </a:solidFill>
              </a:defRPr>
            </a:pPr>
            <a:r>
              <a:rPr sz="160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面向新能源车主与 Robotaxi 乘客的智能出行 Agent</a:t>
            </a:r>
            <a:endParaRPr sz="1600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cover-rule"/>
          <p:cNvSpPr>
            <a:spLocks noGrp="1"/>
          </p:cNvSpPr>
          <p:nvPr/>
        </p:nvSpPr>
        <p:spPr>
          <a:xfrm>
            <a:off x="839470" y="4381500"/>
            <a:ext cx="1428750" cy="38100"/>
          </a:xfrm>
          <a:prstGeom prst="rect">
            <a:avLst/>
          </a:prstGeom>
          <a:solidFill>
            <a:srgbClr val="4778F5"/>
          </a:solidFill>
          <a:ln w="0">
            <a:noFill/>
            <a:prstDash val="solid"/>
          </a:ln>
        </p:spPr>
      </p:sp>
      <p:sp>
        <p:nvSpPr>
          <p:cNvPr id="10" name="cover-meta"/>
          <p:cNvSpPr>
            <a:spLocks noGrp="1"/>
          </p:cNvSpPr>
          <p:nvPr/>
        </p:nvSpPr>
        <p:spPr>
          <a:xfrm>
            <a:off x="723900" y="47625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66768B"/>
                </a:solidFill>
              </a:defRPr>
            </a:pPr>
            <a:r>
              <a:rPr sz="12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AI出行服务管家</a:t>
            </a:r>
            <a:r>
              <a:rPr sz="12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/  兑兑队：张彩莲</a:t>
            </a:r>
            <a:r>
              <a:rPr sz="12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许忻</a:t>
            </a:r>
            <a:r>
              <a:rPr sz="1200" b="0">
                <a:solidFill>
                  <a:srgbClr val="6676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/  2026.09</a:t>
            </a:r>
            <a:endParaRPr sz="1200" b="0">
              <a:solidFill>
                <a:srgbClr val="6676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304800"/>
            <a:ext cx="361950" cy="361950"/>
          </a:xfrm>
          <a:prstGeom prst="rect">
            <a:avLst/>
          </a:prstGeom>
        </p:spPr>
      </p:pic>
      <p:sp>
        <p:nvSpPr>
          <p:cNvPr id="2" name="brand-68-32"/>
          <p:cNvSpPr>
            <a:spLocks noGrp="1"/>
          </p:cNvSpPr>
          <p:nvPr/>
        </p:nvSpPr>
        <p:spPr>
          <a:xfrm>
            <a:off x="1123950" y="30480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203047"/>
                </a:solidFill>
              </a:defRPr>
            </a:pPr>
            <a:r>
              <a:rPr sz="1650" b="1">
                <a:solidFill>
                  <a:srgbClr val="203047"/>
                </a:solidFill>
              </a:rPr>
              <a:t>DriveMate</a:t>
            </a:r>
            <a:endParaRPr sz="1650" b="1">
              <a:solidFill>
                <a:srgbClr val="203047"/>
              </a:solidFill>
            </a:endParaRPr>
          </a:p>
        </p:txBody>
      </p:sp>
      <p:sp>
        <p:nvSpPr>
          <p:cNvPr id="3" name="glass-tag-3-bg"/>
          <p:cNvSpPr>
            <a:spLocks noGrp="1"/>
          </p:cNvSpPr>
          <p:nvPr/>
        </p:nvSpPr>
        <p:spPr>
          <a:xfrm>
            <a:off x="8934450" y="342900"/>
            <a:ext cx="2095500" cy="30480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0">
            <a:noFill/>
            <a:prstDash val="solid"/>
          </a:ln>
        </p:spPr>
      </p:sp>
      <p:sp>
        <p:nvSpPr>
          <p:cNvPr id="4" name="glass-tag-3-text"/>
          <p:cNvSpPr>
            <a:spLocks noGrp="1"/>
          </p:cNvSpPr>
          <p:nvPr/>
        </p:nvSpPr>
        <p:spPr>
          <a:xfrm>
            <a:off x="8934450" y="3429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4778F5"/>
                </a:solidFill>
              </a:defRPr>
            </a:pPr>
            <a:r>
              <a:rPr sz="900" b="1">
                <a:solidFill>
                  <a:srgbClr val="4778F5"/>
                </a:solidFill>
              </a:rPr>
              <a:t>INTELLIGENT MOBILITY</a:t>
            </a:r>
            <a:endParaRPr sz="900" b="1">
              <a:solidFill>
                <a:srgbClr val="4778F5"/>
              </a:solidFill>
            </a:endParaRPr>
          </a:p>
        </p:txBody>
      </p:sp>
      <p:sp>
        <p:nvSpPr>
          <p:cNvPr id="5" name="footer-3"/>
          <p:cNvSpPr>
            <a:spLocks noGrp="1"/>
          </p:cNvSpPr>
          <p:nvPr/>
        </p:nvSpPr>
        <p:spPr>
          <a:xfrm>
            <a:off x="685800" y="641985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750" b="1">
                <a:solidFill>
                  <a:srgbClr val="6A7D96"/>
                </a:solidFill>
              </a:defRPr>
            </a:pPr>
            <a:r>
              <a:rPr sz="750" b="1">
                <a:solidFill>
                  <a:srgbClr val="6A7D96"/>
                </a:solidFill>
              </a:rPr>
              <a:t>DRIVEMATE · SMART COCKPIT</a:t>
            </a:r>
            <a:endParaRPr sz="750" b="1">
              <a:solidFill>
                <a:srgbClr val="6A7D96"/>
              </a:solidFill>
            </a:endParaRPr>
          </a:p>
        </p:txBody>
      </p:sp>
      <p:sp>
        <p:nvSpPr>
          <p:cNvPr id="6" name="page-3"/>
          <p:cNvSpPr>
            <a:spLocks noGrp="1"/>
          </p:cNvSpPr>
          <p:nvPr/>
        </p:nvSpPr>
        <p:spPr>
          <a:xfrm>
            <a:off x="11049000" y="64198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750" b="1">
                <a:solidFill>
                  <a:srgbClr val="6A7D96"/>
                </a:solidFill>
              </a:defRPr>
            </a:pPr>
            <a:r>
              <a:rPr sz="750" b="1">
                <a:solidFill>
                  <a:srgbClr val="6A7D96"/>
                </a:solidFill>
              </a:rPr>
              <a:t>02</a:t>
            </a:r>
            <a:endParaRPr sz="750" b="1">
              <a:solidFill>
                <a:srgbClr val="6A7D96"/>
              </a:solidFill>
            </a:endParaRPr>
          </a:p>
        </p:txBody>
      </p:sp>
      <p:sp>
        <p:nvSpPr>
          <p:cNvPr id="7" name="content-title"/>
          <p:cNvSpPr>
            <a:spLocks noGrp="1"/>
          </p:cNvSpPr>
          <p:nvPr/>
        </p:nvSpPr>
        <p:spPr>
          <a:xfrm>
            <a:off x="685800" y="106680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203047"/>
                </a:solidFill>
              </a:defRPr>
            </a:pPr>
            <a:r>
              <a:rPr sz="2850" b="1">
                <a:solidFill>
                  <a:srgbClr val="203047"/>
                </a:solidFill>
              </a:rPr>
              <a:t>目标场景明确，数据边界真实可解释</a:t>
            </a:r>
            <a:endParaRPr sz="2850" b="1">
              <a:solidFill>
                <a:srgbClr val="203047"/>
              </a:solidFill>
            </a:endParaRPr>
          </a:p>
        </p:txBody>
      </p:sp>
      <p:sp>
        <p:nvSpPr>
          <p:cNvPr id="9" name="content-point"/>
          <p:cNvSpPr>
            <a:spLocks noGrp="1"/>
          </p:cNvSpPr>
          <p:nvPr/>
        </p:nvSpPr>
        <p:spPr>
          <a:xfrm>
            <a:off x="838200" y="2457450"/>
            <a:ext cx="6340475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203047"/>
                </a:solidFill>
              </a:defRPr>
            </a:pPr>
            <a:r>
              <a:rPr sz="2025" b="1">
                <a:solidFill>
                  <a:srgbClr val="203047"/>
                </a:solidFill>
              </a:rPr>
              <a:t>目标场景：</a:t>
            </a:r>
            <a:endParaRPr sz="2025" b="1">
              <a:solidFill>
                <a:srgbClr val="203047"/>
              </a:solidFill>
            </a:endParaRPr>
          </a:p>
          <a:p>
            <a:pPr algn="l">
              <a:buNone/>
              <a:defRPr sz="2025" b="1">
                <a:solidFill>
                  <a:srgbClr val="203047"/>
                </a:solidFill>
              </a:defRPr>
            </a:pPr>
            <a:endParaRPr sz="2025" b="1">
              <a:solidFill>
                <a:srgbClr val="203047"/>
              </a:solidFill>
            </a:endParaRPr>
          </a:p>
          <a:p>
            <a:pPr marL="342900" indent="-342900" algn="l">
              <a:buFont typeface="Arial" panose="020B0604020202020204"/>
              <a:buChar char="•"/>
              <a:defRPr sz="2025" b="1">
                <a:solidFill>
                  <a:srgbClr val="203047"/>
                </a:solidFill>
              </a:defRPr>
            </a:pPr>
            <a:r>
              <a:rPr sz="2025" b="0">
                <a:solidFill>
                  <a:srgbClr val="203047"/>
                </a:solidFill>
              </a:rPr>
              <a:t>新能源车主：疲劳处置、座舱控制、导航充电</a:t>
            </a:r>
            <a:endParaRPr sz="2025" b="0">
              <a:solidFill>
                <a:srgbClr val="203047"/>
              </a:solidFill>
            </a:endParaRPr>
          </a:p>
          <a:p>
            <a:pPr marL="342900" indent="-342900" algn="l">
              <a:buFont typeface="Arial" panose="020B0604020202020204"/>
              <a:buChar char="•"/>
              <a:defRPr sz="2025" b="1">
                <a:solidFill>
                  <a:srgbClr val="203047"/>
                </a:solidFill>
              </a:defRPr>
            </a:pPr>
            <a:r>
              <a:rPr sz="2025" b="0">
                <a:solidFill>
                  <a:srgbClr val="203047"/>
                </a:solidFill>
              </a:rPr>
              <a:t>Robotaxi 乘客：找车改点、异常上报、人工求助</a:t>
            </a:r>
            <a:endParaRPr sz="2025" b="0">
              <a:solidFill>
                <a:srgbClr val="203047"/>
              </a:solidFill>
            </a:endParaRPr>
          </a:p>
          <a:p>
            <a:pPr marL="342900" indent="-342900" algn="l">
              <a:buFont typeface="Arial" panose="020B0604020202020204"/>
              <a:buChar char="•"/>
              <a:defRPr sz="2025" b="1">
                <a:solidFill>
                  <a:srgbClr val="203047"/>
                </a:solidFill>
              </a:defRPr>
            </a:pPr>
            <a:endParaRPr sz="2025" b="0">
              <a:solidFill>
                <a:srgbClr val="203047"/>
              </a:solidFill>
            </a:endParaRPr>
          </a:p>
          <a:p>
            <a:pPr marL="342900" indent="-342900" algn="l">
              <a:buFont typeface="Arial" panose="020B0604020202020204"/>
              <a:buChar char="•"/>
              <a:defRPr sz="2025" b="1">
                <a:solidFill>
                  <a:srgbClr val="203047"/>
                </a:solidFill>
              </a:defRPr>
            </a:pPr>
            <a:r>
              <a:rPr sz="2025" b="0">
                <a:solidFill>
                  <a:srgbClr val="203047"/>
                </a:solidFill>
              </a:rPr>
              <a:t>数据来源：</a:t>
            </a:r>
            <a:endParaRPr sz="2025" b="0">
              <a:solidFill>
                <a:srgbClr val="203047"/>
              </a:solidFill>
            </a:endParaRPr>
          </a:p>
          <a:p>
            <a:pPr marL="342900" indent="-342900" algn="l">
              <a:buFont typeface="Arial" panose="020B0604020202020204"/>
              <a:buChar char="•"/>
              <a:defRPr sz="2025" b="1">
                <a:solidFill>
                  <a:srgbClr val="203047"/>
                </a:solidFill>
              </a:defRPr>
            </a:pPr>
            <a:r>
              <a:rPr sz="2025" b="0">
                <a:solidFill>
                  <a:srgbClr val="203047"/>
                </a:solidFill>
              </a:rPr>
              <a:t>用户语音/文本、车辆状态快照、本地知识库</a:t>
            </a:r>
            <a:endParaRPr sz="2025" b="0">
              <a:solidFill>
                <a:srgbClr val="203047"/>
              </a:solidFill>
            </a:endParaRPr>
          </a:p>
          <a:p>
            <a:pPr marL="342900" indent="-342900" algn="l">
              <a:buFont typeface="Arial" panose="020B0604020202020204"/>
              <a:buChar char="•"/>
              <a:defRPr sz="2025" b="1">
                <a:solidFill>
                  <a:srgbClr val="203047"/>
                </a:solidFill>
              </a:defRPr>
            </a:pPr>
            <a:r>
              <a:rPr sz="2025" b="0">
                <a:solidFill>
                  <a:srgbClr val="203047"/>
                </a:solidFill>
              </a:rPr>
              <a:t>DMS/总线为可复现演示样例，并非实车采集</a:t>
            </a:r>
            <a:endParaRPr sz="2025" b="0">
              <a:solidFill>
                <a:srgbClr val="203047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6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304800"/>
            <a:ext cx="361950" cy="361950"/>
          </a:xfrm>
          <a:prstGeom prst="rect">
            <a:avLst/>
          </a:prstGeom>
        </p:spPr>
      </p:pic>
      <p:sp>
        <p:nvSpPr>
          <p:cNvPr id="2" name="brand-68-32"/>
          <p:cNvSpPr>
            <a:spLocks noGrp="1"/>
          </p:cNvSpPr>
          <p:nvPr/>
        </p:nvSpPr>
        <p:spPr>
          <a:xfrm>
            <a:off x="1123950" y="30480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203047"/>
                </a:solidFill>
              </a:defRPr>
            </a:pPr>
            <a:r>
              <a:rPr sz="1650" b="1">
                <a:solidFill>
                  <a:srgbClr val="203047"/>
                </a:solidFill>
              </a:rPr>
              <a:t>DriveMate</a:t>
            </a:r>
            <a:endParaRPr sz="1650" b="1">
              <a:solidFill>
                <a:srgbClr val="203047"/>
              </a:solidFill>
            </a:endParaRPr>
          </a:p>
        </p:txBody>
      </p:sp>
      <p:sp>
        <p:nvSpPr>
          <p:cNvPr id="3" name="glass-tag-3-bg"/>
          <p:cNvSpPr>
            <a:spLocks noGrp="1"/>
          </p:cNvSpPr>
          <p:nvPr/>
        </p:nvSpPr>
        <p:spPr>
          <a:xfrm>
            <a:off x="8934450" y="342900"/>
            <a:ext cx="2095500" cy="30480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0">
            <a:noFill/>
            <a:prstDash val="solid"/>
          </a:ln>
        </p:spPr>
      </p:sp>
      <p:sp>
        <p:nvSpPr>
          <p:cNvPr id="4" name="glass-tag-3-text"/>
          <p:cNvSpPr>
            <a:spLocks noGrp="1"/>
          </p:cNvSpPr>
          <p:nvPr/>
        </p:nvSpPr>
        <p:spPr>
          <a:xfrm>
            <a:off x="8934450" y="3429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4778F5"/>
                </a:solidFill>
              </a:defRPr>
            </a:pPr>
            <a:r>
              <a:rPr sz="900" b="1">
                <a:solidFill>
                  <a:srgbClr val="4778F5"/>
                </a:solidFill>
              </a:rPr>
              <a:t>INTELLIGENT MOBILITY</a:t>
            </a:r>
            <a:endParaRPr sz="900" b="1">
              <a:solidFill>
                <a:srgbClr val="4778F5"/>
              </a:solidFill>
            </a:endParaRPr>
          </a:p>
        </p:txBody>
      </p:sp>
      <p:sp>
        <p:nvSpPr>
          <p:cNvPr id="5" name="footer-3"/>
          <p:cNvSpPr>
            <a:spLocks noGrp="1"/>
          </p:cNvSpPr>
          <p:nvPr/>
        </p:nvSpPr>
        <p:spPr>
          <a:xfrm>
            <a:off x="685800" y="641985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750" b="1">
                <a:solidFill>
                  <a:srgbClr val="6A7D96"/>
                </a:solidFill>
              </a:defRPr>
            </a:pPr>
            <a:r>
              <a:rPr sz="750" b="1">
                <a:solidFill>
                  <a:srgbClr val="6A7D96"/>
                </a:solidFill>
              </a:rPr>
              <a:t>DRIVEMATE · SMART COCKPIT</a:t>
            </a:r>
            <a:endParaRPr sz="750" b="1">
              <a:solidFill>
                <a:srgbClr val="6A7D96"/>
              </a:solidFill>
            </a:endParaRPr>
          </a:p>
        </p:txBody>
      </p:sp>
      <p:sp>
        <p:nvSpPr>
          <p:cNvPr id="6" name="page-3"/>
          <p:cNvSpPr>
            <a:spLocks noGrp="1"/>
          </p:cNvSpPr>
          <p:nvPr/>
        </p:nvSpPr>
        <p:spPr>
          <a:xfrm>
            <a:off x="11049000" y="64198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750" b="1">
                <a:solidFill>
                  <a:srgbClr val="6A7D96"/>
                </a:solidFill>
              </a:defRPr>
            </a:pPr>
            <a:r>
              <a:rPr sz="750" b="1">
                <a:solidFill>
                  <a:srgbClr val="6A7D96"/>
                </a:solidFill>
              </a:rPr>
              <a:t>03</a:t>
            </a:r>
            <a:endParaRPr sz="750" b="1">
              <a:solidFill>
                <a:srgbClr val="6A7D96"/>
              </a:solidFill>
            </a:endParaRPr>
          </a:p>
        </p:txBody>
      </p:sp>
      <p:sp>
        <p:nvSpPr>
          <p:cNvPr id="7" name="content-title"/>
          <p:cNvSpPr>
            <a:spLocks noGrp="1"/>
          </p:cNvSpPr>
          <p:nvPr/>
        </p:nvSpPr>
        <p:spPr>
          <a:xfrm>
            <a:off x="685800" y="106680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203047"/>
                </a:solidFill>
              </a:defRPr>
            </a:pPr>
            <a:r>
              <a:rPr sz="2850" b="1">
                <a:solidFill>
                  <a:srgbClr val="203047"/>
                </a:solidFill>
              </a:rPr>
              <a:t>产品流程与页面同屏形成任务闭环</a:t>
            </a:r>
            <a:endParaRPr sz="2850" b="1">
              <a:solidFill>
                <a:srgbClr val="203047"/>
              </a:solidFill>
            </a:endParaRPr>
          </a:p>
        </p:txBody>
      </p:sp>
      <p:sp>
        <p:nvSpPr>
          <p:cNvPr id="8" name="content-lead"/>
          <p:cNvSpPr>
            <a:spLocks noGrp="1"/>
          </p:cNvSpPr>
          <p:nvPr/>
        </p:nvSpPr>
        <p:spPr>
          <a:xfrm>
            <a:off x="685800" y="1695450"/>
            <a:ext cx="762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66768B"/>
                </a:solidFill>
              </a:defRPr>
            </a:pPr>
            <a:r>
              <a:rPr sz="1200" b="0">
                <a:solidFill>
                  <a:srgbClr val="66768B"/>
                </a:solidFill>
              </a:rPr>
              <a:t>用户发起 → 方案生成 → 风险确认 → 执行回读</a:t>
            </a:r>
            <a:endParaRPr sz="1200" b="0">
              <a:solidFill>
                <a:srgbClr val="66768B"/>
              </a:solidFill>
            </a:endParaRPr>
          </a:p>
        </p:txBody>
      </p:sp>
      <p:sp>
        <p:nvSpPr>
          <p:cNvPr id="9" name="content-point"/>
          <p:cNvSpPr>
            <a:spLocks noGrp="1"/>
          </p:cNvSpPr>
          <p:nvPr/>
        </p:nvSpPr>
        <p:spPr>
          <a:xfrm>
            <a:off x="838200" y="2457450"/>
            <a:ext cx="2667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203047"/>
                </a:solidFill>
              </a:defRPr>
            </a:pPr>
            <a:r>
              <a:rPr sz="2025" b="1">
                <a:solidFill>
                  <a:srgbClr val="203047"/>
                </a:solidFill>
              </a:rPr>
              <a:t>驾驶舱看状态</a:t>
            </a:r>
            <a:endParaRPr sz="2025" b="1">
              <a:solidFill>
                <a:srgbClr val="203047"/>
              </a:solidFill>
            </a:endParaRPr>
          </a:p>
          <a:p>
            <a:endParaRPr sz="2025"/>
          </a:p>
          <a:p>
            <a:pPr algn="l">
              <a:buNone/>
              <a:defRPr sz="2025" b="1">
                <a:solidFill>
                  <a:srgbClr val="203047"/>
                </a:solidFill>
              </a:defRPr>
            </a:pPr>
            <a:r>
              <a:rPr sz="2025" b="1">
                <a:solidFill>
                  <a:srgbClr val="203047"/>
                </a:solidFill>
              </a:rPr>
              <a:t>中控看过程</a:t>
            </a:r>
            <a:endParaRPr sz="2025" b="1">
              <a:solidFill>
                <a:srgbClr val="203047"/>
              </a:solidFill>
            </a:endParaRPr>
          </a:p>
          <a:p>
            <a:endParaRPr sz="2025"/>
          </a:p>
          <a:p>
            <a:pPr algn="l">
              <a:buNone/>
              <a:defRPr sz="2025" b="1">
                <a:solidFill>
                  <a:srgbClr val="203047"/>
                </a:solidFill>
              </a:defRPr>
            </a:pPr>
            <a:r>
              <a:rPr sz="2025" b="1">
                <a:solidFill>
                  <a:srgbClr val="203047"/>
                </a:solidFill>
              </a:rPr>
              <a:t>助手做交互</a:t>
            </a:r>
            <a:endParaRPr sz="2025" b="1">
              <a:solidFill>
                <a:srgbClr val="203047"/>
              </a:solidFill>
            </a:endParaRPr>
          </a:p>
        </p:txBody>
      </p:sp>
      <p:sp>
        <p:nvSpPr>
          <p:cNvPr id="10" name="content-divider"/>
          <p:cNvSpPr>
            <a:spLocks noGrp="1"/>
          </p:cNvSpPr>
          <p:nvPr/>
        </p:nvSpPr>
        <p:spPr>
          <a:xfrm>
            <a:off x="3810000" y="2381250"/>
            <a:ext cx="19050" cy="2857500"/>
          </a:xfrm>
          <a:prstGeom prst="rect">
            <a:avLst/>
          </a:prstGeom>
          <a:solidFill>
            <a:srgbClr val="C8D9EA"/>
          </a:solidFill>
          <a:ln w="0">
            <a:noFill/>
            <a:prstDash val="solid"/>
          </a:ln>
        </p:spPr>
      </p:sp>
      <p:sp>
        <p:nvSpPr>
          <p:cNvPr id="12" name="content-placeholder"/>
          <p:cNvSpPr>
            <a:spLocks noGrp="1"/>
          </p:cNvSpPr>
          <p:nvPr/>
        </p:nvSpPr>
        <p:spPr>
          <a:xfrm>
            <a:off x="5124450" y="3429000"/>
            <a:ext cx="5448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>
                <a:solidFill>
                  <a:srgbClr val="4090C8"/>
                </a:solidFill>
              </a:defRPr>
            </a:pPr>
            <a:r>
              <a:rPr sz="1725" b="1">
                <a:solidFill>
                  <a:srgbClr val="4090C8"/>
                </a:solidFill>
              </a:rPr>
              <a:t>状态 × 过程 × 交互</a:t>
            </a:r>
            <a:endParaRPr sz="1725" b="1">
              <a:solidFill>
                <a:srgbClr val="4090C8"/>
              </a:solidFill>
            </a:endParaRPr>
          </a:p>
        </p:txBody>
      </p:sp>
      <p:sp>
        <p:nvSpPr>
          <p:cNvPr id="13" name="content-caption"/>
          <p:cNvSpPr>
            <a:spLocks noGrp="1"/>
          </p:cNvSpPr>
          <p:nvPr/>
        </p:nvSpPr>
        <p:spPr>
          <a:xfrm>
            <a:off x="5124450" y="3981450"/>
            <a:ext cx="5448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6768B"/>
                </a:solidFill>
              </a:defRPr>
            </a:pPr>
            <a:r>
              <a:rPr sz="1050" b="0">
                <a:solidFill>
                  <a:srgbClr val="66768B"/>
                </a:solidFill>
              </a:rPr>
              <a:t>六个业务页签承载任务、证据与执行状态</a:t>
            </a:r>
            <a:endParaRPr sz="1050" b="0">
              <a:solidFill>
                <a:srgbClr val="66768B"/>
              </a:solidFill>
            </a:endParaRPr>
          </a:p>
        </p:txBody>
      </p:sp>
      <p:pic>
        <p:nvPicPr>
          <p:cNvPr id="28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385" y="2277110"/>
            <a:ext cx="6990080" cy="32061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6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304800"/>
            <a:ext cx="361950" cy="361950"/>
          </a:xfrm>
          <a:prstGeom prst="rect">
            <a:avLst/>
          </a:prstGeom>
        </p:spPr>
      </p:pic>
      <p:sp>
        <p:nvSpPr>
          <p:cNvPr id="2" name="brand-68-32"/>
          <p:cNvSpPr>
            <a:spLocks noGrp="1"/>
          </p:cNvSpPr>
          <p:nvPr/>
        </p:nvSpPr>
        <p:spPr>
          <a:xfrm>
            <a:off x="1123950" y="30480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203047"/>
                </a:solidFill>
              </a:defRPr>
            </a:pPr>
            <a:r>
              <a:rPr sz="1650" b="1">
                <a:solidFill>
                  <a:srgbClr val="203047"/>
                </a:solidFill>
              </a:rPr>
              <a:t>DriveMate</a:t>
            </a:r>
            <a:endParaRPr sz="1650" b="1">
              <a:solidFill>
                <a:srgbClr val="203047"/>
              </a:solidFill>
            </a:endParaRPr>
          </a:p>
        </p:txBody>
      </p:sp>
      <p:sp>
        <p:nvSpPr>
          <p:cNvPr id="3" name="glass-tag-5-bg"/>
          <p:cNvSpPr>
            <a:spLocks noGrp="1"/>
          </p:cNvSpPr>
          <p:nvPr/>
        </p:nvSpPr>
        <p:spPr>
          <a:xfrm>
            <a:off x="8934450" y="342900"/>
            <a:ext cx="2095500" cy="30480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0">
            <a:noFill/>
            <a:prstDash val="solid"/>
          </a:ln>
        </p:spPr>
      </p:sp>
      <p:sp>
        <p:nvSpPr>
          <p:cNvPr id="4" name="glass-tag-5-text"/>
          <p:cNvSpPr>
            <a:spLocks noGrp="1"/>
          </p:cNvSpPr>
          <p:nvPr/>
        </p:nvSpPr>
        <p:spPr>
          <a:xfrm>
            <a:off x="8934450" y="3429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4778F5"/>
                </a:solidFill>
              </a:defRPr>
            </a:pPr>
            <a:r>
              <a:rPr sz="900" b="1">
                <a:solidFill>
                  <a:srgbClr val="4778F5"/>
                </a:solidFill>
              </a:rPr>
              <a:t>INTELLIGENT MOBILITY</a:t>
            </a:r>
            <a:endParaRPr sz="900" b="1">
              <a:solidFill>
                <a:srgbClr val="4778F5"/>
              </a:solidFill>
            </a:endParaRPr>
          </a:p>
        </p:txBody>
      </p:sp>
      <p:sp>
        <p:nvSpPr>
          <p:cNvPr id="5" name="footer-5"/>
          <p:cNvSpPr>
            <a:spLocks noGrp="1"/>
          </p:cNvSpPr>
          <p:nvPr/>
        </p:nvSpPr>
        <p:spPr>
          <a:xfrm>
            <a:off x="685800" y="641985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750" b="1">
                <a:solidFill>
                  <a:srgbClr val="6A7D96"/>
                </a:solidFill>
              </a:defRPr>
            </a:pPr>
            <a:r>
              <a:rPr sz="750" b="1">
                <a:solidFill>
                  <a:srgbClr val="6A7D96"/>
                </a:solidFill>
              </a:rPr>
              <a:t>DRIVEMATE · SMART COCKPIT</a:t>
            </a:r>
            <a:endParaRPr sz="750" b="1">
              <a:solidFill>
                <a:srgbClr val="6A7D96"/>
              </a:solidFill>
            </a:endParaRPr>
          </a:p>
        </p:txBody>
      </p:sp>
      <p:sp>
        <p:nvSpPr>
          <p:cNvPr id="6" name="page-5"/>
          <p:cNvSpPr>
            <a:spLocks noGrp="1"/>
          </p:cNvSpPr>
          <p:nvPr/>
        </p:nvSpPr>
        <p:spPr>
          <a:xfrm>
            <a:off x="11049000" y="64198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750" b="1">
                <a:solidFill>
                  <a:srgbClr val="6A7D96"/>
                </a:solidFill>
              </a:defRPr>
            </a:pPr>
            <a:r>
              <a:rPr sz="750" b="1">
                <a:solidFill>
                  <a:srgbClr val="6A7D96"/>
                </a:solidFill>
              </a:rPr>
              <a:t>04</a:t>
            </a:r>
            <a:endParaRPr sz="750" b="1">
              <a:solidFill>
                <a:srgbClr val="6A7D96"/>
              </a:solidFill>
            </a:endParaRPr>
          </a:p>
        </p:txBody>
      </p:sp>
      <p:sp>
        <p:nvSpPr>
          <p:cNvPr id="7" name="road-title"/>
          <p:cNvSpPr>
            <a:spLocks noGrp="1"/>
          </p:cNvSpPr>
          <p:nvPr/>
        </p:nvSpPr>
        <p:spPr>
          <a:xfrm>
            <a:off x="685800" y="106680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203047"/>
                </a:solidFill>
              </a:defRPr>
            </a:pPr>
            <a:r>
              <a:rPr sz="2850" b="1">
                <a:solidFill>
                  <a:srgbClr val="203047"/>
                </a:solidFill>
              </a:rPr>
              <a:t>Agent 架构把工具调用锁在安全边界内</a:t>
            </a:r>
            <a:endParaRPr sz="2850" b="1">
              <a:solidFill>
                <a:srgbClr val="203047"/>
              </a:solidFill>
            </a:endParaRPr>
          </a:p>
        </p:txBody>
      </p:sp>
      <p:sp>
        <p:nvSpPr>
          <p:cNvPr id="8" name="road-line"/>
          <p:cNvSpPr>
            <a:spLocks noGrp="1"/>
          </p:cNvSpPr>
          <p:nvPr/>
        </p:nvSpPr>
        <p:spPr>
          <a:xfrm>
            <a:off x="1409700" y="3219450"/>
            <a:ext cx="9372600" cy="28575"/>
          </a:xfrm>
          <a:prstGeom prst="rect">
            <a:avLst/>
          </a:prstGeom>
          <a:solidFill>
            <a:srgbClr val="BCD3EA"/>
          </a:solidFill>
          <a:ln w="0">
            <a:noFill/>
            <a:prstDash val="solid"/>
          </a:ln>
        </p:spPr>
      </p:sp>
      <p:sp>
        <p:nvSpPr>
          <p:cNvPr id="9" name="road-dot-0"/>
          <p:cNvSpPr>
            <a:spLocks noGrp="1"/>
          </p:cNvSpPr>
          <p:nvPr/>
        </p:nvSpPr>
        <p:spPr>
          <a:xfrm>
            <a:off x="1047750" y="3009900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778F5"/>
            </a:solidFill>
            <a:prstDash val="solid"/>
          </a:ln>
        </p:spPr>
      </p:sp>
      <p:sp>
        <p:nvSpPr>
          <p:cNvPr id="10" name="road-num-0"/>
          <p:cNvSpPr>
            <a:spLocks noGrp="1"/>
          </p:cNvSpPr>
          <p:nvPr/>
        </p:nvSpPr>
        <p:spPr>
          <a:xfrm>
            <a:off x="1047750" y="300990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778F5"/>
                </a:solidFill>
              </a:defRPr>
            </a:pPr>
            <a:r>
              <a:rPr sz="975" b="1">
                <a:solidFill>
                  <a:srgbClr val="4778F5"/>
                </a:solidFill>
              </a:rPr>
              <a:t>01</a:t>
            </a:r>
            <a:endParaRPr sz="975" b="1">
              <a:solidFill>
                <a:srgbClr val="4778F5"/>
              </a:solidFill>
            </a:endParaRPr>
          </a:p>
        </p:txBody>
      </p:sp>
      <p:sp>
        <p:nvSpPr>
          <p:cNvPr id="11" name="road-name-0"/>
          <p:cNvSpPr>
            <a:spLocks noGrp="1"/>
          </p:cNvSpPr>
          <p:nvPr/>
        </p:nvSpPr>
        <p:spPr>
          <a:xfrm>
            <a:off x="723900" y="3714750"/>
            <a:ext cx="110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203047"/>
                </a:solidFill>
              </a:defRPr>
            </a:pPr>
            <a:r>
              <a:rPr sz="1800" b="1">
                <a:solidFill>
                  <a:srgbClr val="203047"/>
                </a:solidFill>
              </a:rPr>
              <a:t>理解层</a:t>
            </a:r>
            <a:endParaRPr sz="1800" b="1">
              <a:solidFill>
                <a:srgbClr val="203047"/>
              </a:solidFill>
            </a:endParaRPr>
          </a:p>
        </p:txBody>
      </p:sp>
      <p:sp>
        <p:nvSpPr>
          <p:cNvPr id="12" name="road-desc-0"/>
          <p:cNvSpPr>
            <a:spLocks noGrp="1"/>
          </p:cNvSpPr>
          <p:nvPr/>
        </p:nvSpPr>
        <p:spPr>
          <a:xfrm>
            <a:off x="552450" y="417195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66768B"/>
                </a:solidFill>
              </a:defRPr>
            </a:pPr>
            <a:r>
              <a:rPr sz="1125" b="0">
                <a:solidFill>
                  <a:srgbClr val="66768B"/>
                </a:solidFill>
              </a:rPr>
              <a:t>IntentGraph</a:t>
            </a:r>
            <a:endParaRPr sz="1125" b="0">
              <a:solidFill>
                <a:srgbClr val="66768B"/>
              </a:solidFill>
            </a:endParaRPr>
          </a:p>
          <a:p>
            <a:pPr algn="ctr">
              <a:buNone/>
              <a:defRPr sz="1125" b="0">
                <a:solidFill>
                  <a:srgbClr val="66768B"/>
                </a:solidFill>
              </a:defRPr>
            </a:pPr>
            <a:r>
              <a:rPr sz="1125" b="0">
                <a:solidFill>
                  <a:srgbClr val="66768B"/>
                </a:solidFill>
              </a:rPr>
              <a:t>Session + 知识检索</a:t>
            </a:r>
            <a:endParaRPr sz="1125" b="0">
              <a:solidFill>
                <a:srgbClr val="66768B"/>
              </a:solidFill>
            </a:endParaRPr>
          </a:p>
        </p:txBody>
      </p:sp>
      <p:sp>
        <p:nvSpPr>
          <p:cNvPr id="13" name="road-dot-1"/>
          <p:cNvSpPr>
            <a:spLocks noGrp="1"/>
          </p:cNvSpPr>
          <p:nvPr/>
        </p:nvSpPr>
        <p:spPr>
          <a:xfrm>
            <a:off x="3714750" y="3009900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778F5"/>
            </a:solidFill>
            <a:prstDash val="solid"/>
          </a:ln>
        </p:spPr>
      </p:sp>
      <p:sp>
        <p:nvSpPr>
          <p:cNvPr id="14" name="road-num-1"/>
          <p:cNvSpPr>
            <a:spLocks noGrp="1"/>
          </p:cNvSpPr>
          <p:nvPr/>
        </p:nvSpPr>
        <p:spPr>
          <a:xfrm>
            <a:off x="3714750" y="300990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778F5"/>
                </a:solidFill>
              </a:defRPr>
            </a:pPr>
            <a:r>
              <a:rPr sz="975" b="1">
                <a:solidFill>
                  <a:srgbClr val="4778F5"/>
                </a:solidFill>
              </a:rPr>
              <a:t>02</a:t>
            </a:r>
            <a:endParaRPr sz="975" b="1">
              <a:solidFill>
                <a:srgbClr val="4778F5"/>
              </a:solidFill>
            </a:endParaRPr>
          </a:p>
        </p:txBody>
      </p:sp>
      <p:sp>
        <p:nvSpPr>
          <p:cNvPr id="15" name="road-name-1"/>
          <p:cNvSpPr>
            <a:spLocks noGrp="1"/>
          </p:cNvSpPr>
          <p:nvPr/>
        </p:nvSpPr>
        <p:spPr>
          <a:xfrm>
            <a:off x="3390900" y="3714750"/>
            <a:ext cx="110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203047"/>
                </a:solidFill>
              </a:defRPr>
            </a:pPr>
            <a:r>
              <a:rPr sz="1800" b="1">
                <a:solidFill>
                  <a:srgbClr val="203047"/>
                </a:solidFill>
              </a:rPr>
              <a:t>裁决层</a:t>
            </a:r>
            <a:endParaRPr sz="1800" b="1">
              <a:solidFill>
                <a:srgbClr val="203047"/>
              </a:solidFill>
            </a:endParaRPr>
          </a:p>
        </p:txBody>
      </p:sp>
      <p:sp>
        <p:nvSpPr>
          <p:cNvPr id="16" name="road-desc-1"/>
          <p:cNvSpPr>
            <a:spLocks noGrp="1"/>
          </p:cNvSpPr>
          <p:nvPr/>
        </p:nvSpPr>
        <p:spPr>
          <a:xfrm>
            <a:off x="3219450" y="417195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66768B"/>
                </a:solidFill>
              </a:defRPr>
            </a:pPr>
            <a:r>
              <a:rPr sz="1125" b="0">
                <a:solidFill>
                  <a:srgbClr val="66768B"/>
                </a:solidFill>
              </a:rPr>
              <a:t>ConstraintShield</a:t>
            </a:r>
            <a:endParaRPr sz="1125" b="0">
              <a:solidFill>
                <a:srgbClr val="66768B"/>
              </a:solidFill>
            </a:endParaRPr>
          </a:p>
          <a:p>
            <a:pPr algn="ctr">
              <a:buNone/>
              <a:defRPr sz="1125" b="0">
                <a:solidFill>
                  <a:srgbClr val="66768B"/>
                </a:solidFill>
              </a:defRPr>
            </a:pPr>
            <a:r>
              <a:rPr sz="1125" b="0">
                <a:solidFill>
                  <a:srgbClr val="66768B"/>
                </a:solidFill>
              </a:rPr>
              <a:t>L0–L3 强制确认</a:t>
            </a:r>
            <a:endParaRPr sz="1125" b="0">
              <a:solidFill>
                <a:srgbClr val="66768B"/>
              </a:solidFill>
            </a:endParaRPr>
          </a:p>
        </p:txBody>
      </p:sp>
      <p:sp>
        <p:nvSpPr>
          <p:cNvPr id="17" name="road-dot-2"/>
          <p:cNvSpPr>
            <a:spLocks noGrp="1"/>
          </p:cNvSpPr>
          <p:nvPr/>
        </p:nvSpPr>
        <p:spPr>
          <a:xfrm>
            <a:off x="6381750" y="3009900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778F5"/>
            </a:solidFill>
            <a:prstDash val="solid"/>
          </a:ln>
        </p:spPr>
      </p:sp>
      <p:sp>
        <p:nvSpPr>
          <p:cNvPr id="18" name="road-num-2"/>
          <p:cNvSpPr>
            <a:spLocks noGrp="1"/>
          </p:cNvSpPr>
          <p:nvPr/>
        </p:nvSpPr>
        <p:spPr>
          <a:xfrm>
            <a:off x="6381750" y="300990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778F5"/>
                </a:solidFill>
              </a:defRPr>
            </a:pPr>
            <a:r>
              <a:rPr sz="975" b="1">
                <a:solidFill>
                  <a:srgbClr val="4778F5"/>
                </a:solidFill>
              </a:rPr>
              <a:t>03</a:t>
            </a:r>
            <a:endParaRPr sz="975" b="1">
              <a:solidFill>
                <a:srgbClr val="4778F5"/>
              </a:solidFill>
            </a:endParaRPr>
          </a:p>
        </p:txBody>
      </p:sp>
      <p:sp>
        <p:nvSpPr>
          <p:cNvPr id="19" name="road-name-2"/>
          <p:cNvSpPr>
            <a:spLocks noGrp="1"/>
          </p:cNvSpPr>
          <p:nvPr/>
        </p:nvSpPr>
        <p:spPr>
          <a:xfrm>
            <a:off x="6057900" y="3714750"/>
            <a:ext cx="110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203047"/>
                </a:solidFill>
              </a:defRPr>
            </a:pPr>
            <a:r>
              <a:rPr sz="1800" b="1">
                <a:solidFill>
                  <a:srgbClr val="203047"/>
                </a:solidFill>
              </a:rPr>
              <a:t>执行层</a:t>
            </a:r>
            <a:endParaRPr sz="1800" b="1">
              <a:solidFill>
                <a:srgbClr val="203047"/>
              </a:solidFill>
            </a:endParaRPr>
          </a:p>
        </p:txBody>
      </p:sp>
      <p:sp>
        <p:nvSpPr>
          <p:cNvPr id="20" name="road-desc-2"/>
          <p:cNvSpPr>
            <a:spLocks noGrp="1"/>
          </p:cNvSpPr>
          <p:nvPr/>
        </p:nvSpPr>
        <p:spPr>
          <a:xfrm>
            <a:off x="5886450" y="417195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66768B"/>
                </a:solidFill>
              </a:defRPr>
            </a:pPr>
            <a:r>
              <a:rPr sz="1125" b="0">
                <a:solidFill>
                  <a:srgbClr val="66768B"/>
                </a:solidFill>
              </a:rPr>
              <a:t>依赖规划 + 工具 Schema</a:t>
            </a:r>
            <a:endParaRPr sz="1125" b="0">
              <a:solidFill>
                <a:srgbClr val="66768B"/>
              </a:solidFill>
            </a:endParaRPr>
          </a:p>
          <a:p>
            <a:pPr algn="ctr">
              <a:buNone/>
              <a:defRPr sz="1125" b="0">
                <a:solidFill>
                  <a:srgbClr val="66768B"/>
                </a:solidFill>
              </a:defRPr>
            </a:pPr>
            <a:r>
              <a:rPr sz="1125" b="0">
                <a:solidFill>
                  <a:srgbClr val="66768B"/>
                </a:solidFill>
              </a:rPr>
              <a:t>REST + Bearer Token</a:t>
            </a:r>
            <a:endParaRPr sz="1125" b="0">
              <a:solidFill>
                <a:srgbClr val="66768B"/>
              </a:solidFill>
            </a:endParaRPr>
          </a:p>
        </p:txBody>
      </p:sp>
      <p:sp>
        <p:nvSpPr>
          <p:cNvPr id="21" name="road-dot-3"/>
          <p:cNvSpPr>
            <a:spLocks noGrp="1"/>
          </p:cNvSpPr>
          <p:nvPr/>
        </p:nvSpPr>
        <p:spPr>
          <a:xfrm>
            <a:off x="9048750" y="3009900"/>
            <a:ext cx="438150" cy="438150"/>
          </a:xfrm>
          <a:prstGeom prst="ellipse">
            <a:avLst/>
          </a:prstGeom>
          <a:solidFill>
            <a:srgbClr val="4778F5"/>
          </a:solidFill>
          <a:ln w="19050">
            <a:solidFill>
              <a:srgbClr val="4778F5"/>
            </a:solidFill>
            <a:prstDash val="solid"/>
          </a:ln>
        </p:spPr>
      </p:sp>
      <p:sp>
        <p:nvSpPr>
          <p:cNvPr id="22" name="road-num-3"/>
          <p:cNvSpPr>
            <a:spLocks noGrp="1"/>
          </p:cNvSpPr>
          <p:nvPr/>
        </p:nvSpPr>
        <p:spPr>
          <a:xfrm>
            <a:off x="9048750" y="300990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23" name="road-name-3"/>
          <p:cNvSpPr>
            <a:spLocks noGrp="1"/>
          </p:cNvSpPr>
          <p:nvPr/>
        </p:nvSpPr>
        <p:spPr>
          <a:xfrm>
            <a:off x="8724900" y="3714750"/>
            <a:ext cx="110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203047"/>
                </a:solidFill>
              </a:defRPr>
            </a:pPr>
            <a:r>
              <a:rPr sz="1800" b="1">
                <a:solidFill>
                  <a:srgbClr val="203047"/>
                </a:solidFill>
              </a:rPr>
              <a:t>证据层</a:t>
            </a:r>
            <a:endParaRPr sz="1800" b="1">
              <a:solidFill>
                <a:srgbClr val="203047"/>
              </a:solidFill>
            </a:endParaRPr>
          </a:p>
        </p:txBody>
      </p:sp>
      <p:sp>
        <p:nvSpPr>
          <p:cNvPr id="24" name="road-desc-3"/>
          <p:cNvSpPr>
            <a:spLocks noGrp="1"/>
          </p:cNvSpPr>
          <p:nvPr/>
        </p:nvSpPr>
        <p:spPr>
          <a:xfrm>
            <a:off x="8553450" y="417195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66768B"/>
                </a:solidFill>
              </a:defRPr>
            </a:pPr>
            <a:r>
              <a:rPr sz="1125" b="0">
                <a:solidFill>
                  <a:srgbClr val="66768B"/>
                </a:solidFill>
              </a:rPr>
              <a:t>状态回读 + RecoveryMesh</a:t>
            </a:r>
            <a:endParaRPr sz="1125" b="0">
              <a:solidFill>
                <a:srgbClr val="66768B"/>
              </a:solidFill>
            </a:endParaRPr>
          </a:p>
          <a:p>
            <a:pPr algn="ctr">
              <a:buNone/>
              <a:defRPr sz="1125" b="0">
                <a:solidFill>
                  <a:srgbClr val="66768B"/>
                </a:solidFill>
              </a:defRPr>
            </a:pPr>
            <a:r>
              <a:rPr sz="1125" b="0">
                <a:solidFill>
                  <a:srgbClr val="66768B"/>
                </a:solidFill>
              </a:rPr>
              <a:t>SQLite 审计链</a:t>
            </a:r>
            <a:endParaRPr sz="1125" b="0">
              <a:solidFill>
                <a:srgbClr val="66768B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6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304800"/>
            <a:ext cx="361950" cy="361950"/>
          </a:xfrm>
          <a:prstGeom prst="rect">
            <a:avLst/>
          </a:prstGeom>
        </p:spPr>
      </p:pic>
      <p:sp>
        <p:nvSpPr>
          <p:cNvPr id="2" name="brand-68-32"/>
          <p:cNvSpPr>
            <a:spLocks noGrp="1"/>
          </p:cNvSpPr>
          <p:nvPr/>
        </p:nvSpPr>
        <p:spPr>
          <a:xfrm>
            <a:off x="1123950" y="30480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203047"/>
                </a:solidFill>
              </a:defRPr>
            </a:pPr>
            <a:r>
              <a:rPr sz="1650" b="1">
                <a:solidFill>
                  <a:srgbClr val="203047"/>
                </a:solidFill>
              </a:rPr>
              <a:t>DriveMate</a:t>
            </a:r>
            <a:endParaRPr sz="1650" b="1">
              <a:solidFill>
                <a:srgbClr val="203047"/>
              </a:solidFill>
            </a:endParaRPr>
          </a:p>
        </p:txBody>
      </p:sp>
      <p:sp>
        <p:nvSpPr>
          <p:cNvPr id="3" name="glass-tag-5-bg"/>
          <p:cNvSpPr>
            <a:spLocks noGrp="1"/>
          </p:cNvSpPr>
          <p:nvPr/>
        </p:nvSpPr>
        <p:spPr>
          <a:xfrm>
            <a:off x="8934450" y="342900"/>
            <a:ext cx="2095500" cy="30480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0">
            <a:noFill/>
            <a:prstDash val="solid"/>
          </a:ln>
        </p:spPr>
      </p:sp>
      <p:sp>
        <p:nvSpPr>
          <p:cNvPr id="4" name="glass-tag-5-text"/>
          <p:cNvSpPr>
            <a:spLocks noGrp="1"/>
          </p:cNvSpPr>
          <p:nvPr/>
        </p:nvSpPr>
        <p:spPr>
          <a:xfrm>
            <a:off x="8934450" y="3429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4778F5"/>
                </a:solidFill>
              </a:defRPr>
            </a:pPr>
            <a:r>
              <a:rPr sz="900" b="1">
                <a:solidFill>
                  <a:srgbClr val="4778F5"/>
                </a:solidFill>
              </a:rPr>
              <a:t>INTELLIGENT MOBILITY</a:t>
            </a:r>
            <a:endParaRPr sz="900" b="1">
              <a:solidFill>
                <a:srgbClr val="4778F5"/>
              </a:solidFill>
            </a:endParaRPr>
          </a:p>
        </p:txBody>
      </p:sp>
      <p:sp>
        <p:nvSpPr>
          <p:cNvPr id="5" name="footer-5"/>
          <p:cNvSpPr>
            <a:spLocks noGrp="1"/>
          </p:cNvSpPr>
          <p:nvPr/>
        </p:nvSpPr>
        <p:spPr>
          <a:xfrm>
            <a:off x="685800" y="641985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750" b="1">
                <a:solidFill>
                  <a:srgbClr val="6A7D96"/>
                </a:solidFill>
              </a:defRPr>
            </a:pPr>
            <a:r>
              <a:rPr sz="750" b="1">
                <a:solidFill>
                  <a:srgbClr val="6A7D96"/>
                </a:solidFill>
              </a:rPr>
              <a:t>DRIVEMATE · SMART COCKPIT</a:t>
            </a:r>
            <a:endParaRPr sz="750" b="1">
              <a:solidFill>
                <a:srgbClr val="6A7D96"/>
              </a:solidFill>
            </a:endParaRPr>
          </a:p>
        </p:txBody>
      </p:sp>
      <p:sp>
        <p:nvSpPr>
          <p:cNvPr id="6" name="page-5"/>
          <p:cNvSpPr>
            <a:spLocks noGrp="1"/>
          </p:cNvSpPr>
          <p:nvPr/>
        </p:nvSpPr>
        <p:spPr>
          <a:xfrm>
            <a:off x="11049000" y="64198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750" b="1">
                <a:solidFill>
                  <a:srgbClr val="6A7D96"/>
                </a:solidFill>
              </a:defRPr>
            </a:pPr>
            <a:r>
              <a:rPr sz="750" b="1">
                <a:solidFill>
                  <a:srgbClr val="6A7D96"/>
                </a:solidFill>
              </a:rPr>
              <a:t>05</a:t>
            </a:r>
            <a:endParaRPr sz="750" b="1">
              <a:solidFill>
                <a:srgbClr val="6A7D96"/>
              </a:solidFill>
            </a:endParaRPr>
          </a:p>
        </p:txBody>
      </p:sp>
      <p:sp>
        <p:nvSpPr>
          <p:cNvPr id="7" name="road-title"/>
          <p:cNvSpPr>
            <a:spLocks noGrp="1"/>
          </p:cNvSpPr>
          <p:nvPr/>
        </p:nvSpPr>
        <p:spPr>
          <a:xfrm>
            <a:off x="685800" y="106680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203047"/>
                </a:solidFill>
              </a:defRPr>
            </a:pPr>
            <a:r>
              <a:rPr sz="2850" b="1">
                <a:solidFill>
                  <a:srgbClr val="203047"/>
                </a:solidFill>
              </a:rPr>
              <a:t>评委建议与评测指标都能现场复核</a:t>
            </a:r>
            <a:endParaRPr sz="2850" b="1">
              <a:solidFill>
                <a:srgbClr val="203047"/>
              </a:solidFill>
            </a:endParaRPr>
          </a:p>
        </p:txBody>
      </p:sp>
      <p:sp>
        <p:nvSpPr>
          <p:cNvPr id="8" name="road-line"/>
          <p:cNvSpPr>
            <a:spLocks noGrp="1"/>
          </p:cNvSpPr>
          <p:nvPr/>
        </p:nvSpPr>
        <p:spPr>
          <a:xfrm>
            <a:off x="1409700" y="3219450"/>
            <a:ext cx="9372600" cy="28575"/>
          </a:xfrm>
          <a:prstGeom prst="rect">
            <a:avLst/>
          </a:prstGeom>
          <a:solidFill>
            <a:srgbClr val="BCD3EA"/>
          </a:solidFill>
          <a:ln w="0">
            <a:noFill/>
            <a:prstDash val="solid"/>
          </a:ln>
        </p:spPr>
      </p:sp>
      <p:sp>
        <p:nvSpPr>
          <p:cNvPr id="9" name="road-dot-0"/>
          <p:cNvSpPr>
            <a:spLocks noGrp="1"/>
          </p:cNvSpPr>
          <p:nvPr/>
        </p:nvSpPr>
        <p:spPr>
          <a:xfrm>
            <a:off x="1047750" y="3009900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778F5"/>
            </a:solidFill>
            <a:prstDash val="solid"/>
          </a:ln>
        </p:spPr>
      </p:sp>
      <p:sp>
        <p:nvSpPr>
          <p:cNvPr id="10" name="road-num-0"/>
          <p:cNvSpPr>
            <a:spLocks noGrp="1"/>
          </p:cNvSpPr>
          <p:nvPr/>
        </p:nvSpPr>
        <p:spPr>
          <a:xfrm>
            <a:off x="1047750" y="300990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778F5"/>
                </a:solidFill>
              </a:defRPr>
            </a:pPr>
            <a:r>
              <a:rPr sz="975" b="1">
                <a:solidFill>
                  <a:srgbClr val="4778F5"/>
                </a:solidFill>
              </a:rPr>
              <a:t>01</a:t>
            </a:r>
            <a:endParaRPr sz="975" b="1">
              <a:solidFill>
                <a:srgbClr val="4778F5"/>
              </a:solidFill>
            </a:endParaRPr>
          </a:p>
        </p:txBody>
      </p:sp>
      <p:sp>
        <p:nvSpPr>
          <p:cNvPr id="11" name="road-name-0"/>
          <p:cNvSpPr>
            <a:spLocks noGrp="1"/>
          </p:cNvSpPr>
          <p:nvPr/>
        </p:nvSpPr>
        <p:spPr>
          <a:xfrm>
            <a:off x="723900" y="3714750"/>
            <a:ext cx="110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203047"/>
                </a:solidFill>
              </a:defRPr>
            </a:pPr>
            <a:r>
              <a:rPr sz="1800" b="1">
                <a:solidFill>
                  <a:srgbClr val="203047"/>
                </a:solidFill>
              </a:rPr>
              <a:t>真实执行</a:t>
            </a:r>
            <a:endParaRPr sz="1800" b="1">
              <a:solidFill>
                <a:srgbClr val="203047"/>
              </a:solidFill>
            </a:endParaRPr>
          </a:p>
        </p:txBody>
      </p:sp>
      <p:sp>
        <p:nvSpPr>
          <p:cNvPr id="12" name="road-desc-0"/>
          <p:cNvSpPr>
            <a:spLocks noGrp="1"/>
          </p:cNvSpPr>
          <p:nvPr/>
        </p:nvSpPr>
        <p:spPr>
          <a:xfrm>
            <a:off x="552450" y="417195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66768B"/>
                </a:solidFill>
              </a:defRPr>
            </a:pPr>
            <a:r>
              <a:rPr sz="1125" b="0">
                <a:solidFill>
                  <a:srgbClr val="66768B"/>
                </a:solidFill>
              </a:rPr>
              <a:t>REST 模拟器</a:t>
            </a:r>
            <a:endParaRPr sz="1125" b="0">
              <a:solidFill>
                <a:srgbClr val="66768B"/>
              </a:solidFill>
            </a:endParaRPr>
          </a:p>
          <a:p>
            <a:pPr algn="ctr">
              <a:buNone/>
              <a:defRPr sz="1125" b="0">
                <a:solidFill>
                  <a:srgbClr val="66768B"/>
                </a:solidFill>
              </a:defRPr>
            </a:pPr>
            <a:r>
              <a:rPr sz="1125" b="0">
                <a:solidFill>
                  <a:srgbClr val="66768B"/>
                </a:solidFill>
              </a:rPr>
              <a:t>唯一回执 + 状态回读</a:t>
            </a:r>
            <a:endParaRPr sz="1125" b="0">
              <a:solidFill>
                <a:srgbClr val="66768B"/>
              </a:solidFill>
            </a:endParaRPr>
          </a:p>
        </p:txBody>
      </p:sp>
      <p:sp>
        <p:nvSpPr>
          <p:cNvPr id="13" name="road-dot-1"/>
          <p:cNvSpPr>
            <a:spLocks noGrp="1"/>
          </p:cNvSpPr>
          <p:nvPr/>
        </p:nvSpPr>
        <p:spPr>
          <a:xfrm>
            <a:off x="3714750" y="3009900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778F5"/>
            </a:solidFill>
            <a:prstDash val="solid"/>
          </a:ln>
        </p:spPr>
      </p:sp>
      <p:sp>
        <p:nvSpPr>
          <p:cNvPr id="14" name="road-num-1"/>
          <p:cNvSpPr>
            <a:spLocks noGrp="1"/>
          </p:cNvSpPr>
          <p:nvPr/>
        </p:nvSpPr>
        <p:spPr>
          <a:xfrm>
            <a:off x="3714750" y="300990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778F5"/>
                </a:solidFill>
              </a:defRPr>
            </a:pPr>
            <a:r>
              <a:rPr sz="975" b="1">
                <a:solidFill>
                  <a:srgbClr val="4778F5"/>
                </a:solidFill>
              </a:rPr>
              <a:t>02</a:t>
            </a:r>
            <a:endParaRPr sz="975" b="1">
              <a:solidFill>
                <a:srgbClr val="4778F5"/>
              </a:solidFill>
            </a:endParaRPr>
          </a:p>
        </p:txBody>
      </p:sp>
      <p:sp>
        <p:nvSpPr>
          <p:cNvPr id="15" name="road-name-1"/>
          <p:cNvSpPr>
            <a:spLocks noGrp="1"/>
          </p:cNvSpPr>
          <p:nvPr/>
        </p:nvSpPr>
        <p:spPr>
          <a:xfrm>
            <a:off x="3390900" y="3714750"/>
            <a:ext cx="110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203047"/>
                </a:solidFill>
              </a:defRPr>
            </a:pPr>
            <a:r>
              <a:rPr sz="1800" b="1">
                <a:solidFill>
                  <a:srgbClr val="203047"/>
                </a:solidFill>
              </a:rPr>
              <a:t>安全校验</a:t>
            </a:r>
            <a:endParaRPr sz="1800" b="1">
              <a:solidFill>
                <a:srgbClr val="203047"/>
              </a:solidFill>
            </a:endParaRPr>
          </a:p>
        </p:txBody>
      </p:sp>
      <p:sp>
        <p:nvSpPr>
          <p:cNvPr id="16" name="road-desc-1"/>
          <p:cNvSpPr>
            <a:spLocks noGrp="1"/>
          </p:cNvSpPr>
          <p:nvPr/>
        </p:nvSpPr>
        <p:spPr>
          <a:xfrm>
            <a:off x="3219450" y="417195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66768B"/>
                </a:solidFill>
              </a:defRPr>
            </a:pPr>
            <a:r>
              <a:rPr sz="1125" b="0">
                <a:solidFill>
                  <a:srgbClr val="66768B"/>
                </a:solidFill>
              </a:rPr>
              <a:t>L2/L3 强制确认</a:t>
            </a:r>
            <a:endParaRPr sz="1125" b="0">
              <a:solidFill>
                <a:srgbClr val="66768B"/>
              </a:solidFill>
            </a:endParaRPr>
          </a:p>
          <a:p>
            <a:pPr algn="ctr">
              <a:buNone/>
              <a:defRPr sz="1125" b="0">
                <a:solidFill>
                  <a:srgbClr val="66768B"/>
                </a:solidFill>
              </a:defRPr>
            </a:pPr>
            <a:r>
              <a:rPr sz="1125" b="0">
                <a:solidFill>
                  <a:srgbClr val="66768B"/>
                </a:solidFill>
              </a:rPr>
              <a:t>鉴权 + 距离硬约束</a:t>
            </a:r>
            <a:endParaRPr sz="1125" b="0">
              <a:solidFill>
                <a:srgbClr val="66768B"/>
              </a:solidFill>
            </a:endParaRPr>
          </a:p>
        </p:txBody>
      </p:sp>
      <p:sp>
        <p:nvSpPr>
          <p:cNvPr id="17" name="road-dot-2"/>
          <p:cNvSpPr>
            <a:spLocks noGrp="1"/>
          </p:cNvSpPr>
          <p:nvPr/>
        </p:nvSpPr>
        <p:spPr>
          <a:xfrm>
            <a:off x="6381750" y="3009900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778F5"/>
            </a:solidFill>
            <a:prstDash val="solid"/>
          </a:ln>
        </p:spPr>
      </p:sp>
      <p:sp>
        <p:nvSpPr>
          <p:cNvPr id="18" name="road-num-2"/>
          <p:cNvSpPr>
            <a:spLocks noGrp="1"/>
          </p:cNvSpPr>
          <p:nvPr/>
        </p:nvSpPr>
        <p:spPr>
          <a:xfrm>
            <a:off x="6381750" y="300990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778F5"/>
                </a:solidFill>
              </a:defRPr>
            </a:pPr>
            <a:r>
              <a:rPr sz="975" b="1">
                <a:solidFill>
                  <a:srgbClr val="4778F5"/>
                </a:solidFill>
              </a:rPr>
              <a:t>03</a:t>
            </a:r>
            <a:endParaRPr sz="975" b="1">
              <a:solidFill>
                <a:srgbClr val="4778F5"/>
              </a:solidFill>
            </a:endParaRPr>
          </a:p>
        </p:txBody>
      </p:sp>
      <p:sp>
        <p:nvSpPr>
          <p:cNvPr id="19" name="road-name-2"/>
          <p:cNvSpPr>
            <a:spLocks noGrp="1"/>
          </p:cNvSpPr>
          <p:nvPr/>
        </p:nvSpPr>
        <p:spPr>
          <a:xfrm>
            <a:off x="6057900" y="3714750"/>
            <a:ext cx="110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203047"/>
                </a:solidFill>
              </a:defRPr>
            </a:pPr>
            <a:r>
              <a:rPr sz="1800" b="1">
                <a:solidFill>
                  <a:srgbClr val="203047"/>
                </a:solidFill>
              </a:rPr>
              <a:t>审计验证</a:t>
            </a:r>
            <a:endParaRPr sz="1800" b="1">
              <a:solidFill>
                <a:srgbClr val="203047"/>
              </a:solidFill>
            </a:endParaRPr>
          </a:p>
        </p:txBody>
      </p:sp>
      <p:sp>
        <p:nvSpPr>
          <p:cNvPr id="20" name="road-desc-2"/>
          <p:cNvSpPr>
            <a:spLocks noGrp="1"/>
          </p:cNvSpPr>
          <p:nvPr/>
        </p:nvSpPr>
        <p:spPr>
          <a:xfrm>
            <a:off x="5886450" y="417195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66768B"/>
                </a:solidFill>
              </a:defRPr>
            </a:pPr>
            <a:r>
              <a:rPr sz="1125" b="0">
                <a:solidFill>
                  <a:srgbClr val="66768B"/>
                </a:solidFill>
              </a:rPr>
              <a:t>Run 全链路留痕</a:t>
            </a:r>
            <a:endParaRPr sz="1125" b="0">
              <a:solidFill>
                <a:srgbClr val="66768B"/>
              </a:solidFill>
            </a:endParaRPr>
          </a:p>
          <a:p>
            <a:pPr algn="ctr">
              <a:buNone/>
              <a:defRPr sz="1125" b="0">
                <a:solidFill>
                  <a:srgbClr val="66768B"/>
                </a:solidFill>
              </a:defRPr>
            </a:pPr>
            <a:r>
              <a:rPr sz="1125" b="0">
                <a:solidFill>
                  <a:srgbClr val="66768B"/>
                </a:solidFill>
              </a:rPr>
              <a:t>计划、确认、回执、工单</a:t>
            </a:r>
            <a:endParaRPr sz="1125" b="0">
              <a:solidFill>
                <a:srgbClr val="66768B"/>
              </a:solidFill>
            </a:endParaRPr>
          </a:p>
        </p:txBody>
      </p:sp>
      <p:sp>
        <p:nvSpPr>
          <p:cNvPr id="21" name="road-dot-3"/>
          <p:cNvSpPr>
            <a:spLocks noGrp="1"/>
          </p:cNvSpPr>
          <p:nvPr/>
        </p:nvSpPr>
        <p:spPr>
          <a:xfrm>
            <a:off x="9048750" y="3009900"/>
            <a:ext cx="438150" cy="438150"/>
          </a:xfrm>
          <a:prstGeom prst="ellipse">
            <a:avLst/>
          </a:prstGeom>
          <a:solidFill>
            <a:srgbClr val="4778F5"/>
          </a:solidFill>
          <a:ln w="19050">
            <a:solidFill>
              <a:srgbClr val="4778F5"/>
            </a:solidFill>
            <a:prstDash val="solid"/>
          </a:ln>
        </p:spPr>
      </p:sp>
      <p:sp>
        <p:nvSpPr>
          <p:cNvPr id="22" name="road-num-3"/>
          <p:cNvSpPr>
            <a:spLocks noGrp="1"/>
          </p:cNvSpPr>
          <p:nvPr/>
        </p:nvSpPr>
        <p:spPr>
          <a:xfrm>
            <a:off x="9048750" y="300990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23" name="road-name-3"/>
          <p:cNvSpPr>
            <a:spLocks noGrp="1"/>
          </p:cNvSpPr>
          <p:nvPr/>
        </p:nvSpPr>
        <p:spPr>
          <a:xfrm>
            <a:off x="8724900" y="3714750"/>
            <a:ext cx="110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203047"/>
                </a:solidFill>
              </a:defRPr>
            </a:pPr>
            <a:r>
              <a:rPr sz="1800" b="1">
                <a:solidFill>
                  <a:srgbClr val="203047"/>
                </a:solidFill>
              </a:rPr>
              <a:t>评测指标</a:t>
            </a:r>
            <a:endParaRPr sz="1800" b="1">
              <a:solidFill>
                <a:srgbClr val="203047"/>
              </a:solidFill>
            </a:endParaRPr>
          </a:p>
        </p:txBody>
      </p:sp>
      <p:sp>
        <p:nvSpPr>
          <p:cNvPr id="24" name="road-desc-3"/>
          <p:cNvSpPr>
            <a:spLocks noGrp="1"/>
          </p:cNvSpPr>
          <p:nvPr/>
        </p:nvSpPr>
        <p:spPr>
          <a:xfrm>
            <a:off x="8553450" y="417195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66768B"/>
                </a:solidFill>
              </a:defRPr>
            </a:pPr>
            <a:r>
              <a:rPr sz="1125" b="0">
                <a:solidFill>
                  <a:srgbClr val="66768B"/>
                </a:solidFill>
              </a:rPr>
              <a:t>成功率｜未授权执行</a:t>
            </a:r>
            <a:endParaRPr sz="1125" b="0">
              <a:solidFill>
                <a:srgbClr val="66768B"/>
              </a:solidFill>
            </a:endParaRPr>
          </a:p>
          <a:p>
            <a:pPr algn="ctr">
              <a:buNone/>
              <a:defRPr sz="1125" b="0">
                <a:solidFill>
                  <a:srgbClr val="66768B"/>
                </a:solidFill>
              </a:defRPr>
            </a:pPr>
            <a:r>
              <a:rPr sz="1125" b="0">
                <a:solidFill>
                  <a:srgbClr val="66768B"/>
                </a:solidFill>
              </a:rPr>
              <a:t>审计覆盖｜多轮连续性</a:t>
            </a:r>
            <a:endParaRPr sz="1125" b="0">
              <a:solidFill>
                <a:srgbClr val="66768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6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304800"/>
            <a:ext cx="361950" cy="361950"/>
          </a:xfrm>
          <a:prstGeom prst="rect">
            <a:avLst/>
          </a:prstGeom>
        </p:spPr>
      </p:pic>
      <p:sp>
        <p:nvSpPr>
          <p:cNvPr id="2" name="brand-68-32"/>
          <p:cNvSpPr>
            <a:spLocks noGrp="1"/>
          </p:cNvSpPr>
          <p:nvPr/>
        </p:nvSpPr>
        <p:spPr>
          <a:xfrm>
            <a:off x="1123950" y="30480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203047"/>
                </a:solidFill>
              </a:defRPr>
            </a:pPr>
            <a:r>
              <a:rPr sz="1650" b="1">
                <a:solidFill>
                  <a:srgbClr val="203047"/>
                </a:solidFill>
              </a:rPr>
              <a:t>DriveMate</a:t>
            </a:r>
            <a:endParaRPr sz="1650" b="1">
              <a:solidFill>
                <a:srgbClr val="203047"/>
              </a:solidFill>
            </a:endParaRPr>
          </a:p>
        </p:txBody>
      </p:sp>
      <p:sp>
        <p:nvSpPr>
          <p:cNvPr id="3" name="glass-tag-5-bg"/>
          <p:cNvSpPr>
            <a:spLocks noGrp="1"/>
          </p:cNvSpPr>
          <p:nvPr/>
        </p:nvSpPr>
        <p:spPr>
          <a:xfrm>
            <a:off x="8934450" y="342900"/>
            <a:ext cx="2095500" cy="30480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0">
            <a:noFill/>
            <a:prstDash val="solid"/>
          </a:ln>
        </p:spPr>
      </p:sp>
      <p:sp>
        <p:nvSpPr>
          <p:cNvPr id="4" name="glass-tag-5-text"/>
          <p:cNvSpPr>
            <a:spLocks noGrp="1"/>
          </p:cNvSpPr>
          <p:nvPr/>
        </p:nvSpPr>
        <p:spPr>
          <a:xfrm>
            <a:off x="8934450" y="3429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4778F5"/>
                </a:solidFill>
              </a:defRPr>
            </a:pPr>
            <a:r>
              <a:rPr sz="900" b="1">
                <a:solidFill>
                  <a:srgbClr val="4778F5"/>
                </a:solidFill>
              </a:rPr>
              <a:t>INTELLIGENT MOBILITY</a:t>
            </a:r>
            <a:endParaRPr sz="900" b="1">
              <a:solidFill>
                <a:srgbClr val="4778F5"/>
              </a:solidFill>
            </a:endParaRPr>
          </a:p>
        </p:txBody>
      </p:sp>
      <p:sp>
        <p:nvSpPr>
          <p:cNvPr id="5" name="footer-5"/>
          <p:cNvSpPr>
            <a:spLocks noGrp="1"/>
          </p:cNvSpPr>
          <p:nvPr/>
        </p:nvSpPr>
        <p:spPr>
          <a:xfrm>
            <a:off x="685800" y="641985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750" b="1">
                <a:solidFill>
                  <a:srgbClr val="6A7D96"/>
                </a:solidFill>
              </a:defRPr>
            </a:pPr>
            <a:r>
              <a:rPr sz="750" b="1">
                <a:solidFill>
                  <a:srgbClr val="6A7D96"/>
                </a:solidFill>
              </a:rPr>
              <a:t>DRIVEMATE · SMART COCKPIT</a:t>
            </a:r>
            <a:endParaRPr sz="750" b="1">
              <a:solidFill>
                <a:srgbClr val="6A7D96"/>
              </a:solidFill>
            </a:endParaRPr>
          </a:p>
        </p:txBody>
      </p:sp>
      <p:sp>
        <p:nvSpPr>
          <p:cNvPr id="6" name="page-5"/>
          <p:cNvSpPr>
            <a:spLocks noGrp="1"/>
          </p:cNvSpPr>
          <p:nvPr/>
        </p:nvSpPr>
        <p:spPr>
          <a:xfrm>
            <a:off x="11049000" y="64198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750" b="1">
                <a:solidFill>
                  <a:srgbClr val="6A7D96"/>
                </a:solidFill>
              </a:defRPr>
            </a:pPr>
            <a:r>
              <a:rPr sz="750" b="1">
                <a:solidFill>
                  <a:srgbClr val="6A7D96"/>
                </a:solidFill>
              </a:rPr>
              <a:t>06</a:t>
            </a:r>
            <a:endParaRPr sz="750" b="1">
              <a:solidFill>
                <a:srgbClr val="6A7D96"/>
              </a:solidFill>
            </a:endParaRPr>
          </a:p>
        </p:txBody>
      </p:sp>
      <p:sp>
        <p:nvSpPr>
          <p:cNvPr id="7" name="road-title"/>
          <p:cNvSpPr>
            <a:spLocks noGrp="1"/>
          </p:cNvSpPr>
          <p:nvPr/>
        </p:nvSpPr>
        <p:spPr>
          <a:xfrm>
            <a:off x="685800" y="106680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203047"/>
                </a:solidFill>
              </a:defRPr>
            </a:pPr>
            <a:r>
              <a:rPr sz="2850" b="1">
                <a:solidFill>
                  <a:srgbClr val="203047"/>
                </a:solidFill>
              </a:rPr>
              <a:t>落地计划以验证升级为前提，不越过量产边界</a:t>
            </a:r>
            <a:endParaRPr sz="2850" b="1">
              <a:solidFill>
                <a:srgbClr val="203047"/>
              </a:solidFill>
            </a:endParaRPr>
          </a:p>
        </p:txBody>
      </p:sp>
      <p:sp>
        <p:nvSpPr>
          <p:cNvPr id="8" name="road-line"/>
          <p:cNvSpPr>
            <a:spLocks noGrp="1"/>
          </p:cNvSpPr>
          <p:nvPr/>
        </p:nvSpPr>
        <p:spPr>
          <a:xfrm>
            <a:off x="1409700" y="3219450"/>
            <a:ext cx="9372600" cy="28575"/>
          </a:xfrm>
          <a:prstGeom prst="rect">
            <a:avLst/>
          </a:prstGeom>
          <a:solidFill>
            <a:srgbClr val="BCD3EA"/>
          </a:solidFill>
          <a:ln w="0">
            <a:noFill/>
            <a:prstDash val="solid"/>
          </a:ln>
        </p:spPr>
      </p:sp>
      <p:sp>
        <p:nvSpPr>
          <p:cNvPr id="9" name="road-dot-0"/>
          <p:cNvSpPr>
            <a:spLocks noGrp="1"/>
          </p:cNvSpPr>
          <p:nvPr/>
        </p:nvSpPr>
        <p:spPr>
          <a:xfrm>
            <a:off x="1047750" y="3009900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778F5"/>
            </a:solidFill>
            <a:prstDash val="solid"/>
          </a:ln>
        </p:spPr>
      </p:sp>
      <p:sp>
        <p:nvSpPr>
          <p:cNvPr id="10" name="road-num-0"/>
          <p:cNvSpPr>
            <a:spLocks noGrp="1"/>
          </p:cNvSpPr>
          <p:nvPr/>
        </p:nvSpPr>
        <p:spPr>
          <a:xfrm>
            <a:off x="1047750" y="300990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778F5"/>
                </a:solidFill>
              </a:defRPr>
            </a:pPr>
            <a:r>
              <a:rPr sz="975" b="1">
                <a:solidFill>
                  <a:srgbClr val="4778F5"/>
                </a:solidFill>
              </a:rPr>
              <a:t>01</a:t>
            </a:r>
            <a:endParaRPr sz="975" b="1">
              <a:solidFill>
                <a:srgbClr val="4778F5"/>
              </a:solidFill>
            </a:endParaRPr>
          </a:p>
        </p:txBody>
      </p:sp>
      <p:sp>
        <p:nvSpPr>
          <p:cNvPr id="11" name="road-name-0"/>
          <p:cNvSpPr>
            <a:spLocks noGrp="1"/>
          </p:cNvSpPr>
          <p:nvPr/>
        </p:nvSpPr>
        <p:spPr>
          <a:xfrm>
            <a:off x="723900" y="3714750"/>
            <a:ext cx="110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203047"/>
                </a:solidFill>
              </a:defRPr>
            </a:pPr>
            <a:r>
              <a:rPr sz="1800" b="1">
                <a:solidFill>
                  <a:srgbClr val="203047"/>
                </a:solidFill>
              </a:rPr>
              <a:t>赛事演示</a:t>
            </a:r>
            <a:endParaRPr sz="1800" b="1">
              <a:solidFill>
                <a:srgbClr val="203047"/>
              </a:solidFill>
            </a:endParaRPr>
          </a:p>
        </p:txBody>
      </p:sp>
      <p:sp>
        <p:nvSpPr>
          <p:cNvPr id="12" name="road-desc-0"/>
          <p:cNvSpPr>
            <a:spLocks noGrp="1"/>
          </p:cNvSpPr>
          <p:nvPr/>
        </p:nvSpPr>
        <p:spPr>
          <a:xfrm>
            <a:off x="552450" y="417195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66768B"/>
                </a:solidFill>
              </a:defRPr>
            </a:pPr>
            <a:r>
              <a:rPr sz="1125" b="0">
                <a:solidFill>
                  <a:srgbClr val="66768B"/>
                </a:solidFill>
              </a:rPr>
              <a:t>固定场景稳定复现</a:t>
            </a:r>
            <a:endParaRPr sz="1125" b="0">
              <a:solidFill>
                <a:srgbClr val="66768B"/>
              </a:solidFill>
            </a:endParaRPr>
          </a:p>
          <a:p>
            <a:pPr algn="ctr">
              <a:buNone/>
              <a:defRPr sz="1125" b="0">
                <a:solidFill>
                  <a:srgbClr val="66768B"/>
                </a:solidFill>
              </a:defRPr>
            </a:pPr>
            <a:r>
              <a:rPr sz="1125" b="0">
                <a:solidFill>
                  <a:srgbClr val="66768B"/>
                </a:solidFill>
              </a:rPr>
              <a:t>沉淀评测门禁</a:t>
            </a:r>
            <a:endParaRPr sz="1125" b="0">
              <a:solidFill>
                <a:srgbClr val="66768B"/>
              </a:solidFill>
            </a:endParaRPr>
          </a:p>
        </p:txBody>
      </p:sp>
      <p:sp>
        <p:nvSpPr>
          <p:cNvPr id="13" name="road-dot-1"/>
          <p:cNvSpPr>
            <a:spLocks noGrp="1"/>
          </p:cNvSpPr>
          <p:nvPr/>
        </p:nvSpPr>
        <p:spPr>
          <a:xfrm>
            <a:off x="3714750" y="3009900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778F5"/>
            </a:solidFill>
            <a:prstDash val="solid"/>
          </a:ln>
        </p:spPr>
      </p:sp>
      <p:sp>
        <p:nvSpPr>
          <p:cNvPr id="14" name="road-num-1"/>
          <p:cNvSpPr>
            <a:spLocks noGrp="1"/>
          </p:cNvSpPr>
          <p:nvPr/>
        </p:nvSpPr>
        <p:spPr>
          <a:xfrm>
            <a:off x="3714750" y="300990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778F5"/>
                </a:solidFill>
              </a:defRPr>
            </a:pPr>
            <a:r>
              <a:rPr sz="975" b="1">
                <a:solidFill>
                  <a:srgbClr val="4778F5"/>
                </a:solidFill>
              </a:rPr>
              <a:t>02</a:t>
            </a:r>
            <a:endParaRPr sz="975" b="1">
              <a:solidFill>
                <a:srgbClr val="4778F5"/>
              </a:solidFill>
            </a:endParaRPr>
          </a:p>
        </p:txBody>
      </p:sp>
      <p:sp>
        <p:nvSpPr>
          <p:cNvPr id="15" name="road-name-1"/>
          <p:cNvSpPr>
            <a:spLocks noGrp="1"/>
          </p:cNvSpPr>
          <p:nvPr/>
        </p:nvSpPr>
        <p:spPr>
          <a:xfrm>
            <a:off x="3390900" y="3714750"/>
            <a:ext cx="110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203047"/>
                </a:solidFill>
              </a:defRPr>
            </a:pPr>
            <a:r>
              <a:rPr sz="1800" b="1">
                <a:solidFill>
                  <a:srgbClr val="203047"/>
                </a:solidFill>
              </a:rPr>
              <a:t>沙箱联调</a:t>
            </a:r>
            <a:endParaRPr sz="1800" b="1">
              <a:solidFill>
                <a:srgbClr val="203047"/>
              </a:solidFill>
            </a:endParaRPr>
          </a:p>
        </p:txBody>
      </p:sp>
      <p:sp>
        <p:nvSpPr>
          <p:cNvPr id="16" name="road-desc-1"/>
          <p:cNvSpPr>
            <a:spLocks noGrp="1"/>
          </p:cNvSpPr>
          <p:nvPr/>
        </p:nvSpPr>
        <p:spPr>
          <a:xfrm>
            <a:off x="3219450" y="417195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66768B"/>
                </a:solidFill>
              </a:defRPr>
            </a:pPr>
            <a:r>
              <a:rPr sz="1125" b="0">
                <a:solidFill>
                  <a:srgbClr val="66768B"/>
                </a:solidFill>
              </a:rPr>
              <a:t>接入车企座舱网关</a:t>
            </a:r>
            <a:endParaRPr sz="1125" b="0">
              <a:solidFill>
                <a:srgbClr val="66768B"/>
              </a:solidFill>
            </a:endParaRPr>
          </a:p>
          <a:p>
            <a:pPr algn="ctr">
              <a:buNone/>
              <a:defRPr sz="1125" b="0">
                <a:solidFill>
                  <a:srgbClr val="66768B"/>
                </a:solidFill>
              </a:defRPr>
            </a:pPr>
            <a:r>
              <a:rPr sz="1125" b="0">
                <a:solidFill>
                  <a:srgbClr val="66768B"/>
                </a:solidFill>
              </a:rPr>
              <a:t>订单与客服沙箱</a:t>
            </a:r>
            <a:endParaRPr sz="1125" b="0">
              <a:solidFill>
                <a:srgbClr val="66768B"/>
              </a:solidFill>
            </a:endParaRPr>
          </a:p>
        </p:txBody>
      </p:sp>
      <p:sp>
        <p:nvSpPr>
          <p:cNvPr id="17" name="road-dot-2"/>
          <p:cNvSpPr>
            <a:spLocks noGrp="1"/>
          </p:cNvSpPr>
          <p:nvPr/>
        </p:nvSpPr>
        <p:spPr>
          <a:xfrm>
            <a:off x="6381750" y="3009900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778F5"/>
            </a:solidFill>
            <a:prstDash val="solid"/>
          </a:ln>
        </p:spPr>
      </p:sp>
      <p:sp>
        <p:nvSpPr>
          <p:cNvPr id="18" name="road-num-2"/>
          <p:cNvSpPr>
            <a:spLocks noGrp="1"/>
          </p:cNvSpPr>
          <p:nvPr/>
        </p:nvSpPr>
        <p:spPr>
          <a:xfrm>
            <a:off x="6381750" y="300990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778F5"/>
                </a:solidFill>
              </a:defRPr>
            </a:pPr>
            <a:r>
              <a:rPr sz="975" b="1">
                <a:solidFill>
                  <a:srgbClr val="4778F5"/>
                </a:solidFill>
              </a:rPr>
              <a:t>03</a:t>
            </a:r>
            <a:endParaRPr sz="975" b="1">
              <a:solidFill>
                <a:srgbClr val="4778F5"/>
              </a:solidFill>
            </a:endParaRPr>
          </a:p>
        </p:txBody>
      </p:sp>
      <p:sp>
        <p:nvSpPr>
          <p:cNvPr id="19" name="road-name-2"/>
          <p:cNvSpPr>
            <a:spLocks noGrp="1"/>
          </p:cNvSpPr>
          <p:nvPr/>
        </p:nvSpPr>
        <p:spPr>
          <a:xfrm>
            <a:off x="6057900" y="3714750"/>
            <a:ext cx="110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203047"/>
                </a:solidFill>
              </a:defRPr>
            </a:pPr>
            <a:r>
              <a:rPr sz="1800" b="1">
                <a:solidFill>
                  <a:srgbClr val="203047"/>
                </a:solidFill>
              </a:rPr>
              <a:t>受控试点</a:t>
            </a:r>
            <a:endParaRPr sz="1800" b="1">
              <a:solidFill>
                <a:srgbClr val="203047"/>
              </a:solidFill>
            </a:endParaRPr>
          </a:p>
        </p:txBody>
      </p:sp>
      <p:sp>
        <p:nvSpPr>
          <p:cNvPr id="20" name="road-desc-2"/>
          <p:cNvSpPr>
            <a:spLocks noGrp="1"/>
          </p:cNvSpPr>
          <p:nvPr/>
        </p:nvSpPr>
        <p:spPr>
          <a:xfrm>
            <a:off x="5886450" y="417195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66768B"/>
                </a:solidFill>
              </a:defRPr>
            </a:pPr>
            <a:r>
              <a:rPr sz="1125" b="0">
                <a:solidFill>
                  <a:srgbClr val="66768B"/>
                </a:solidFill>
              </a:rPr>
              <a:t>完成隐私、安全、法规</a:t>
            </a:r>
            <a:endParaRPr sz="1125" b="0">
              <a:solidFill>
                <a:srgbClr val="66768B"/>
              </a:solidFill>
            </a:endParaRPr>
          </a:p>
          <a:p>
            <a:pPr algn="ctr">
              <a:buNone/>
              <a:defRPr sz="1125" b="0">
                <a:solidFill>
                  <a:srgbClr val="66768B"/>
                </a:solidFill>
              </a:defRPr>
            </a:pPr>
            <a:r>
              <a:rPr sz="1125" b="0">
                <a:solidFill>
                  <a:srgbClr val="66768B"/>
                </a:solidFill>
              </a:rPr>
              <a:t>与实车验证后进入</a:t>
            </a:r>
            <a:endParaRPr sz="1125" b="0">
              <a:solidFill>
                <a:srgbClr val="66768B"/>
              </a:solidFill>
            </a:endParaRPr>
          </a:p>
        </p:txBody>
      </p:sp>
      <p:sp>
        <p:nvSpPr>
          <p:cNvPr id="21" name="road-dot-3"/>
          <p:cNvSpPr>
            <a:spLocks noGrp="1"/>
          </p:cNvSpPr>
          <p:nvPr/>
        </p:nvSpPr>
        <p:spPr>
          <a:xfrm>
            <a:off x="9048750" y="3009900"/>
            <a:ext cx="438150" cy="438150"/>
          </a:xfrm>
          <a:prstGeom prst="ellipse">
            <a:avLst/>
          </a:prstGeom>
          <a:solidFill>
            <a:srgbClr val="4778F5"/>
          </a:solidFill>
          <a:ln w="19050">
            <a:solidFill>
              <a:srgbClr val="4778F5"/>
            </a:solidFill>
            <a:prstDash val="solid"/>
          </a:ln>
        </p:spPr>
      </p:sp>
      <p:sp>
        <p:nvSpPr>
          <p:cNvPr id="22" name="road-num-3"/>
          <p:cNvSpPr>
            <a:spLocks noGrp="1"/>
          </p:cNvSpPr>
          <p:nvPr/>
        </p:nvSpPr>
        <p:spPr>
          <a:xfrm>
            <a:off x="9048750" y="300990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23" name="road-name-3"/>
          <p:cNvSpPr>
            <a:spLocks noGrp="1"/>
          </p:cNvSpPr>
          <p:nvPr/>
        </p:nvSpPr>
        <p:spPr>
          <a:xfrm>
            <a:off x="8724900" y="3714750"/>
            <a:ext cx="110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203047"/>
                </a:solidFill>
              </a:defRPr>
            </a:pPr>
            <a:r>
              <a:rPr sz="1800" b="1">
                <a:solidFill>
                  <a:srgbClr val="203047"/>
                </a:solidFill>
              </a:rPr>
              <a:t>规模推广</a:t>
            </a:r>
            <a:endParaRPr sz="1800" b="1">
              <a:solidFill>
                <a:srgbClr val="203047"/>
              </a:solidFill>
            </a:endParaRPr>
          </a:p>
        </p:txBody>
      </p:sp>
      <p:sp>
        <p:nvSpPr>
          <p:cNvPr id="24" name="road-desc-3"/>
          <p:cNvSpPr>
            <a:spLocks noGrp="1"/>
          </p:cNvSpPr>
          <p:nvPr/>
        </p:nvSpPr>
        <p:spPr>
          <a:xfrm>
            <a:off x="8553450" y="417195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66768B"/>
                </a:solidFill>
              </a:defRPr>
            </a:pPr>
            <a:r>
              <a:rPr sz="1125" b="0">
                <a:solidFill>
                  <a:srgbClr val="66768B"/>
                </a:solidFill>
              </a:rPr>
              <a:t>采集效率、转人工率</a:t>
            </a:r>
            <a:endParaRPr sz="1125" b="0">
              <a:solidFill>
                <a:srgbClr val="66768B"/>
              </a:solidFill>
            </a:endParaRPr>
          </a:p>
          <a:p>
            <a:pPr algn="ctr">
              <a:buNone/>
              <a:defRPr sz="1125" b="0">
                <a:solidFill>
                  <a:srgbClr val="66768B"/>
                </a:solidFill>
              </a:defRPr>
            </a:pPr>
            <a:r>
              <a:rPr sz="1125" b="0">
                <a:solidFill>
                  <a:srgbClr val="66768B"/>
                </a:solidFill>
              </a:rPr>
              <a:t>满意度等真实数据</a:t>
            </a:r>
            <a:endParaRPr sz="1125" b="0">
              <a:solidFill>
                <a:srgbClr val="66768B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>
            <a:spLocks noGrp="1"/>
          </p:cNvSpPr>
          <p:nvPr/>
        </p:nvSpPr>
        <p:spPr>
          <a:xfrm>
            <a:off x="712788" y="62547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复赛评审重点自评｜93 / 100</a:t>
            </a:r>
          </a:p>
        </p:txBody>
      </p:sp>
      <p:graphicFrame>
        <p:nvGraphicFramePr>
          <p:cNvPr id="6" name="表格 4"/>
          <p:cNvGraphicFramePr/>
          <p:nvPr/>
        </p:nvGraphicFramePr>
        <p:xfrm>
          <a:off x="760096" y="2073593"/>
          <a:ext cx="10483215" cy="2682240"/>
        </p:xfrm>
        <a:graphic>
          <a:graphicData uri="http://schemas.openxmlformats.org/drawingml/2006/table">
            <a:tbl>
              <a:tblPr firstRow="1">
                <a:tableStyleId>{7EB56405-9558-48B4-AF26-DE0B6F426617}</a:tableStyleId>
              </a:tblPr>
              <a:tblGrid>
                <a:gridCol w="1753870"/>
                <a:gridCol w="1055370"/>
                <a:gridCol w="6694170"/>
                <a:gridCol w="97980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评审维度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权重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评审要点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得分自评</a:t>
                      </a:r>
                      <a:endParaRPr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行业场景价值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25%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双用户真实场景；价值边界与三阶段推广路径清晰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23 / 25</a:t>
                      </a:r>
                      <a:endParaRPr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Agent</a:t>
                      </a:r>
                      <a:r>
                        <a:rPr sz="1100"/>
                        <a:t>能力与任务闭环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25%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任务理解、跨轮 Session、工具编排、确认、执行与回读闭环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24 / 25</a:t>
                      </a:r>
                      <a:endParaRPr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产品体验与</a:t>
                      </a:r>
                      <a:r>
                        <a:rPr sz="1100"/>
                        <a:t>Demo</a:t>
                      </a:r>
                      <a:r>
                        <a:rPr sz="1100"/>
                        <a:t>完成度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20%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三屏协同；核心 Demo 可一键启动、现场复核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18 / 20</a:t>
                      </a:r>
                      <a:endParaRPr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技术实现深度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15%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前后端分离；规则、知识、工具、审计和模拟器模块化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14 / 15</a:t>
                      </a:r>
                      <a:endParaRPr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安全、合规与可追溯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10%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硬安全闸门、鉴权、状态边界和完整审计链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9 / 10</a:t>
                      </a:r>
                      <a:endParaRPr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开放</a:t>
                      </a:r>
                      <a:r>
                        <a:rPr sz="1100"/>
                        <a:t>/</a:t>
                      </a:r>
                      <a:r>
                        <a:rPr sz="1100"/>
                        <a:t>复用贡献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/>
                        <a:t>5%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/>
                        <a:t>Apache 2.0；工具 Schema、样例数据、文档与测试可复用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5 / 5</a:t>
                      </a:r>
                      <a:endParaRPr sz="11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1248</Words>
  <Application>WPS 演示</Application>
  <PresentationFormat>Converted Presentation</PresentationFormat>
  <Paragraphs>222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Arial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Carol</cp:lastModifiedBy>
  <cp:revision>1</cp:revision>
  <dcterms:created xsi:type="dcterms:W3CDTF">2026-09-03T09:04:53Z</dcterms:created>
  <dcterms:modified xsi:type="dcterms:W3CDTF">2026-09-03T09:04:53Z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F88E6C26AC444AB8B61DA87DC5906433_12</vt:lpwstr>
  </property>
  <property fmtid="{D5CDD505-2E9C-101B-9397-08002B2CF9AE}" pid="3" name="KSOProductBuildVer">
    <vt:lpwstr>2052-12.1.0.28043</vt:lpwstr>
  </property>
</Properties>
</file>