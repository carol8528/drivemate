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63" r:id="rId8"/>
    <p:sldId id="259" r:id="rId9"/>
    <p:sldId id="260" r:id="rId10"/>
    <p:sldId id="261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852C9B-C8A1-438B-B075-FB973D936B25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  <a:tblStyle styleId="{7EB56405-9558-48B4-AF26-DE0B6F426617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8915" y="980440"/>
            <a:ext cx="4994275" cy="4994275"/>
          </a:xfrm>
          <a:prstGeom prst="rect">
            <a:avLst/>
          </a:prstGeom>
        </p:spPr>
      </p:pic>
      <p:sp>
        <p:nvSpPr>
          <p:cNvPr id="6" name="cover-kicker"/>
          <p:cNvSpPr>
            <a:spLocks noGrp="1"/>
          </p:cNvSpPr>
          <p:nvPr/>
        </p:nvSpPr>
        <p:spPr>
          <a:xfrm>
            <a:off x="767080" y="112458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778F5"/>
                </a:solidFill>
              </a:defRPr>
            </a:pPr>
            <a:r>
              <a:rPr lang="en-US" sz="1000" b="1">
                <a:solidFill>
                  <a:srgbClr val="4778F5"/>
                </a:solidFill>
                <a:latin typeface="微软雅黑" panose="020B0503020204020204" charset="-122"/>
                <a:ea typeface="微软雅黑" panose="020B0503020204020204" charset="-122"/>
              </a:rPr>
              <a:t>Design for GOAI</a:t>
            </a:r>
            <a:endParaRPr lang="en-US" sz="1000" b="1">
              <a:solidFill>
                <a:srgbClr val="4778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cover-title"/>
          <p:cNvSpPr>
            <a:spLocks noGrp="1"/>
          </p:cNvSpPr>
          <p:nvPr/>
        </p:nvSpPr>
        <p:spPr>
          <a:xfrm>
            <a:off x="685800" y="2057400"/>
            <a:ext cx="5334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203047"/>
                </a:solidFill>
              </a:defRPr>
            </a:pPr>
            <a:r>
              <a:rPr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DriveMate </a:t>
            </a:r>
            <a:endParaRPr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4350" b="1">
                <a:solidFill>
                  <a:srgbClr val="203047"/>
                </a:solidFill>
              </a:defRPr>
            </a:pPr>
            <a:r>
              <a:rPr 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智能出行服务管家</a:t>
            </a:r>
            <a:endParaRPr lang="zh-CN" sz="43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cover-sub"/>
          <p:cNvSpPr>
            <a:spLocks noGrp="1"/>
          </p:cNvSpPr>
          <p:nvPr/>
        </p:nvSpPr>
        <p:spPr>
          <a:xfrm>
            <a:off x="767080" y="371729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203047"/>
                </a:solidFill>
              </a:defRPr>
            </a:pPr>
            <a:r>
              <a:rPr lang="zh-CN" altLang="en-US" sz="16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安全、可执行、可审计的智能出行 </a:t>
            </a:r>
            <a:r>
              <a:rPr lang="en-US" altLang="zh-CN" sz="16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endParaRPr lang="en-US" altLang="zh-CN" sz="160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cover-rule"/>
          <p:cNvSpPr>
            <a:spLocks noGrp="1"/>
          </p:cNvSpPr>
          <p:nvPr/>
        </p:nvSpPr>
        <p:spPr>
          <a:xfrm>
            <a:off x="839470" y="4381500"/>
            <a:ext cx="1428750" cy="38100"/>
          </a:xfrm>
          <a:prstGeom prst="rect">
            <a:avLst/>
          </a:prstGeom>
          <a:solidFill>
            <a:srgbClr val="4778F5"/>
          </a:solidFill>
          <a:ln w="0">
            <a:noFill/>
            <a:prstDash val="solid"/>
          </a:ln>
        </p:spPr>
      </p:sp>
      <p:sp>
        <p:nvSpPr>
          <p:cNvPr id="10" name="cover-meta"/>
          <p:cNvSpPr>
            <a:spLocks noGrp="1"/>
          </p:cNvSpPr>
          <p:nvPr/>
        </p:nvSpPr>
        <p:spPr>
          <a:xfrm>
            <a:off x="723900" y="4762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6768B"/>
                </a:solidFill>
              </a:defRPr>
            </a:pPr>
            <a:r>
              <a:rPr lang="en-US"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出行服务管家</a:t>
            </a: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</a:t>
            </a:r>
            <a:r>
              <a:rPr lang="zh-CN"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兑兑队：张彩莲</a:t>
            </a:r>
            <a:r>
              <a:rPr lang="en-US" altLang="zh-CN"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许忻</a:t>
            </a: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2026.09</a:t>
            </a:r>
            <a:endParaRPr sz="12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2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2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2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2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02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section-num"/>
          <p:cNvSpPr>
            <a:spLocks noGrp="1"/>
          </p:cNvSpPr>
          <p:nvPr/>
        </p:nvSpPr>
        <p:spPr>
          <a:xfrm>
            <a:off x="666750" y="1428750"/>
            <a:ext cx="1714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0" b="1">
                <a:solidFill>
                  <a:srgbClr val="BBD2FA"/>
                </a:solidFill>
              </a:defRPr>
            </a:pPr>
            <a:r>
              <a:rPr sz="6600" b="1">
                <a:solidFill>
                  <a:srgbClr val="BBD2FA"/>
                </a:solidFill>
              </a:rPr>
              <a:t>01</a:t>
            </a:r>
            <a:endParaRPr sz="6600" b="1">
              <a:solidFill>
                <a:srgbClr val="BBD2FA"/>
              </a:solidFill>
            </a:endParaRPr>
          </a:p>
        </p:txBody>
      </p:sp>
      <p:sp>
        <p:nvSpPr>
          <p:cNvPr id="8" name="section-title"/>
          <p:cNvSpPr>
            <a:spLocks noGrp="1"/>
          </p:cNvSpPr>
          <p:nvPr/>
        </p:nvSpPr>
        <p:spPr>
          <a:xfrm>
            <a:off x="2381250" y="1504950"/>
            <a:ext cx="6572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203047"/>
                </a:solidFill>
              </a:defRPr>
            </a:pPr>
            <a:r>
              <a:rPr sz="3450" b="1">
                <a:solidFill>
                  <a:srgbClr val="203047"/>
                </a:solidFill>
              </a:rPr>
              <a:t>理解场景，</a:t>
            </a:r>
            <a:endParaRPr sz="3450" b="1">
              <a:solidFill>
                <a:srgbClr val="203047"/>
              </a:solidFill>
            </a:endParaRPr>
          </a:p>
          <a:p>
            <a:pPr algn="l">
              <a:defRPr sz="3450" b="1">
                <a:solidFill>
                  <a:srgbClr val="203047"/>
                </a:solidFill>
              </a:defRPr>
            </a:pPr>
            <a:r>
              <a:rPr sz="3450" b="1">
                <a:solidFill>
                  <a:srgbClr val="203047"/>
                </a:solidFill>
              </a:rPr>
              <a:t>再定义体验</a:t>
            </a:r>
            <a:endParaRPr sz="3450" b="1">
              <a:solidFill>
                <a:srgbClr val="203047"/>
              </a:solidFill>
            </a:endParaRPr>
          </a:p>
        </p:txBody>
      </p:sp>
      <p:sp>
        <p:nvSpPr>
          <p:cNvPr id="9" name="section-body"/>
          <p:cNvSpPr>
            <a:spLocks noGrp="1"/>
          </p:cNvSpPr>
          <p:nvPr/>
        </p:nvSpPr>
        <p:spPr>
          <a:xfrm>
            <a:off x="2428875" y="306705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68B"/>
                </a:solidFill>
              </a:defRPr>
            </a:pPr>
            <a:r>
              <a:rPr sz="1425" b="0">
                <a:solidFill>
                  <a:srgbClr val="66768B"/>
                </a:solidFill>
              </a:rPr>
              <a:t>章节页 · 适合承接用户洞察、方案背景与核心挑战</a:t>
            </a:r>
            <a:endParaRPr sz="1425" b="0">
              <a:solidFill>
                <a:srgbClr val="66768B"/>
              </a:solidFill>
            </a:endParaRPr>
          </a:p>
        </p:txBody>
      </p:sp>
      <p:sp>
        <p:nvSpPr>
          <p:cNvPr id="10" name="section-rule"/>
          <p:cNvSpPr>
            <a:spLocks noGrp="1"/>
          </p:cNvSpPr>
          <p:nvPr/>
        </p:nvSpPr>
        <p:spPr>
          <a:xfrm>
            <a:off x="2428875" y="3762375"/>
            <a:ext cx="6667500" cy="28575"/>
          </a:xfrm>
          <a:prstGeom prst="rect">
            <a:avLst/>
          </a:prstGeom>
          <a:solidFill>
            <a:srgbClr val="4778F5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3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3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3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3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03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content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一套体验，连接感知、决策与服务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content-lead"/>
          <p:cNvSpPr>
            <a:spLocks noGrp="1"/>
          </p:cNvSpPr>
          <p:nvPr/>
        </p:nvSpPr>
        <p:spPr>
          <a:xfrm>
            <a:off x="685800" y="16954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6768B"/>
                </a:solidFill>
              </a:defRPr>
            </a:pPr>
            <a:r>
              <a:rPr sz="1200" b="0">
                <a:solidFill>
                  <a:srgbClr val="66768B"/>
                </a:solidFill>
              </a:rPr>
              <a:t>双栏内容页 · 左侧表达核心观点，右侧承载图片、架构或重点数据</a:t>
            </a:r>
            <a:endParaRPr sz="1200" b="0">
              <a:solidFill>
                <a:srgbClr val="66768B"/>
              </a:solidFill>
            </a:endParaRPr>
          </a:p>
        </p:txBody>
      </p:sp>
      <p:sp>
        <p:nvSpPr>
          <p:cNvPr id="9" name="content-point"/>
          <p:cNvSpPr>
            <a:spLocks noGrp="1"/>
          </p:cNvSpPr>
          <p:nvPr/>
        </p:nvSpPr>
        <p:spPr>
          <a:xfrm>
            <a:off x="838200" y="2457450"/>
            <a:ext cx="2667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主动理解</a:t>
            </a:r>
            <a:endParaRPr sz="2025" b="1">
              <a:solidFill>
                <a:srgbClr val="203047"/>
              </a:solidFill>
            </a:endParaRPr>
          </a:p>
          <a:p>
            <a:endParaRPr sz="2025"/>
          </a:p>
          <a:p>
            <a:pPr algn="l"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跨域协同</a:t>
            </a:r>
            <a:endParaRPr sz="2025" b="1">
              <a:solidFill>
                <a:srgbClr val="203047"/>
              </a:solidFill>
            </a:endParaRPr>
          </a:p>
          <a:p>
            <a:endParaRPr sz="2025"/>
          </a:p>
          <a:p>
            <a:pPr algn="l"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安全可控</a:t>
            </a:r>
            <a:endParaRPr sz="2025" b="1">
              <a:solidFill>
                <a:srgbClr val="203047"/>
              </a:solidFill>
            </a:endParaRPr>
          </a:p>
        </p:txBody>
      </p:sp>
      <p:sp>
        <p:nvSpPr>
          <p:cNvPr id="10" name="content-divider"/>
          <p:cNvSpPr>
            <a:spLocks noGrp="1"/>
          </p:cNvSpPr>
          <p:nvPr/>
        </p:nvSpPr>
        <p:spPr>
          <a:xfrm>
            <a:off x="3810000" y="2381250"/>
            <a:ext cx="19050" cy="2857500"/>
          </a:xfrm>
          <a:prstGeom prst="rect">
            <a:avLst/>
          </a:prstGeom>
          <a:solidFill>
            <a:srgbClr val="C8D9EA"/>
          </a:solidFill>
          <a:ln w="0">
            <a:noFill/>
            <a:prstDash val="solid"/>
          </a:ln>
        </p:spPr>
      </p:sp>
      <p:sp>
        <p:nvSpPr>
          <p:cNvPr id="12" name="content-placeholder"/>
          <p:cNvSpPr>
            <a:spLocks noGrp="1"/>
          </p:cNvSpPr>
          <p:nvPr/>
        </p:nvSpPr>
        <p:spPr>
          <a:xfrm>
            <a:off x="5124450" y="3429000"/>
            <a:ext cx="5448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4090C8"/>
                </a:solidFill>
              </a:defRPr>
            </a:pPr>
            <a:r>
              <a:rPr sz="1725" b="1">
                <a:solidFill>
                  <a:srgbClr val="4090C8"/>
                </a:solidFill>
              </a:rPr>
              <a:t>放置产品界面 / 场景图片 / 架构图</a:t>
            </a:r>
            <a:endParaRPr sz="1725" b="1">
              <a:solidFill>
                <a:srgbClr val="4090C8"/>
              </a:solidFill>
            </a:endParaRPr>
          </a:p>
        </p:txBody>
      </p:sp>
      <p:sp>
        <p:nvSpPr>
          <p:cNvPr id="13" name="content-caption"/>
          <p:cNvSpPr>
            <a:spLocks noGrp="1"/>
          </p:cNvSpPr>
          <p:nvPr/>
        </p:nvSpPr>
        <p:spPr>
          <a:xfrm>
            <a:off x="5124450" y="3981450"/>
            <a:ext cx="544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66768B"/>
                </a:solidFill>
              </a:defRPr>
            </a:pPr>
            <a:r>
              <a:rPr sz="1050" b="0">
                <a:solidFill>
                  <a:srgbClr val="66768B"/>
                </a:solidFill>
              </a:rPr>
              <a:t>建议使用 16:9 或 3:2 横图，保持单一视觉焦点</a:t>
            </a:r>
            <a:endParaRPr sz="1050" b="0">
              <a:solidFill>
                <a:srgbClr val="66768B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85" y="2277110"/>
            <a:ext cx="6990080" cy="3206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12788" y="625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评委优化建议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4393" y="1584960"/>
          <a:ext cx="10483215" cy="3017520"/>
        </p:xfrm>
        <a:graphic>
          <a:graphicData uri="http://schemas.openxmlformats.org/drawingml/2006/table">
            <a:tbl>
              <a:tblPr firstRow="1">
                <a:tableStyleId>{26852C9B-C8A1-438B-B075-FB973D936B25}</a:tableStyleId>
              </a:tblPr>
              <a:tblGrid>
                <a:gridCol w="596900"/>
                <a:gridCol w="908685"/>
                <a:gridCol w="4488815"/>
                <a:gridCol w="448881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序号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建议类别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分条建议内容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100"/>
                        <a:t>修改内容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模拟执行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当前部分控车能力仍是 </a:t>
                      </a:r>
                      <a:r>
                        <a:rPr lang="en-US" altLang="zh-CN" sz="1100"/>
                        <a:t>Mock </a:t>
                      </a:r>
                      <a:r>
                        <a:rPr lang="zh-CN" altLang="en-US" sz="1100"/>
                        <a:t>返回或伪造执行记录，建议优先接入 </a:t>
                      </a:r>
                      <a:r>
                        <a:rPr lang="en-US" altLang="zh-CN" sz="1100"/>
                        <a:t>2—3 </a:t>
                      </a:r>
                      <a:r>
                        <a:rPr lang="zh-CN" altLang="en-US" sz="1100"/>
                        <a:t>个真实接口或车机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座舱模拟器。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模拟执行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确保座椅按摩、空调、媒体控制等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已执行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状态可被真实验证，而非伪造执行记录。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安全校验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将闪灯鸣笛等安全限制从随机判断改为真实定位距离校验。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安全校验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修复密钥硬编码、真实鉴权缺失等初审安全问题。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安全校验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确保 </a:t>
                      </a:r>
                      <a:r>
                        <a:rPr lang="en-US" altLang="zh-CN" sz="1100"/>
                        <a:t>L0—L3 </a:t>
                      </a:r>
                      <a:r>
                        <a:rPr lang="zh-CN" altLang="en-US" sz="1100"/>
                        <a:t>分级与强制确认机制真正生效。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持久化审计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将会话、工单及工具调用记录从内存态迁移至数据库，形成完整审计链。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7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持久化审计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重点证明高风险任务的触发、执行、确认与转人工过程均可回溯。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8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端到端验证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不建议继续扩展新功能。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9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端到端验证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聚焦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司机疲劳</a:t>
                      </a:r>
                      <a:r>
                        <a:rPr lang="en-US" altLang="zh-CN" sz="1100"/>
                        <a:t>→L3 </a:t>
                      </a:r>
                      <a:r>
                        <a:rPr lang="zh-CN" altLang="en-US" sz="1100"/>
                        <a:t>风险触发</a:t>
                      </a:r>
                      <a:r>
                        <a:rPr lang="en-US" altLang="zh-CN" sz="1100"/>
                        <a:t>→</a:t>
                      </a:r>
                      <a:r>
                        <a:rPr lang="zh-CN" altLang="en-US" sz="1100"/>
                        <a:t>按摩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音乐真实启动</a:t>
                      </a:r>
                      <a:r>
                        <a:rPr lang="en-US" altLang="zh-CN" sz="1100"/>
                        <a:t>→</a:t>
                      </a:r>
                      <a:r>
                        <a:rPr lang="zh-CN" altLang="en-US" sz="1100"/>
                        <a:t>导航需确认</a:t>
                      </a:r>
                      <a:r>
                        <a:rPr lang="en-US" altLang="zh-CN" sz="1100"/>
                        <a:t>→</a:t>
                      </a:r>
                      <a:r>
                        <a:rPr lang="zh-CN" altLang="en-US" sz="1100"/>
                        <a:t>必要时转人工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这一场景。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端到端验证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提供完整链路截图、</a:t>
                      </a:r>
                      <a:r>
                        <a:rPr lang="en-US" altLang="zh-CN" sz="1100"/>
                        <a:t>Demo </a:t>
                      </a:r>
                      <a:r>
                        <a:rPr lang="zh-CN" altLang="en-US" sz="1100"/>
                        <a:t>与任务成功率、响应时延等量化结果。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补充建议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准备结构清晰的汇报 </a:t>
                      </a:r>
                      <a:r>
                        <a:rPr lang="en-US" altLang="zh-CN" sz="1100"/>
                        <a:t>PPT</a:t>
                      </a:r>
                      <a:r>
                        <a:rPr lang="zh-CN" altLang="en-US" sz="1100"/>
                        <a:t>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补充建议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拆分高耦合的 </a:t>
                      </a:r>
                      <a:r>
                        <a:rPr lang="en-US" altLang="zh-CN" sz="1100"/>
                        <a:t>Streamlit </a:t>
                      </a:r>
                      <a:r>
                        <a:rPr lang="zh-CN" altLang="en-US" sz="1100"/>
                        <a:t>代码模块。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补充建议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项目现有安全分级、工具 </a:t>
                      </a:r>
                      <a:r>
                        <a:rPr lang="en-US" altLang="zh-CN" sz="1100"/>
                        <a:t>Schema </a:t>
                      </a:r>
                      <a:r>
                        <a:rPr lang="zh-CN" altLang="en-US" sz="1100"/>
                        <a:t>配置化和双用户场景是优势，复赛关键是从</a:t>
                      </a:r>
                      <a:r>
                        <a:rPr lang="en-US" altLang="zh-CN" sz="1100"/>
                        <a:t>"Mock </a:t>
                      </a:r>
                      <a:r>
                        <a:rPr lang="zh-CN" altLang="en-US" sz="1100"/>
                        <a:t>执行器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升级为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真实服务编排</a:t>
                      </a:r>
                      <a:r>
                        <a:rPr lang="en-US" altLang="zh-CN" sz="1100"/>
                        <a:t>"</a:t>
                      </a:r>
                      <a:r>
                        <a:rPr lang="zh-CN" altLang="en-US" sz="1100"/>
                        <a:t>。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12788" y="625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复赛评审重点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760096" y="2073593"/>
          <a:ext cx="10483215" cy="2682240"/>
        </p:xfrm>
        <a:graphic>
          <a:graphicData uri="http://schemas.openxmlformats.org/drawingml/2006/table">
            <a:tbl>
              <a:tblPr firstRow="1">
                <a:tableStyleId>{7EB56405-9558-48B4-AF26-DE0B6F426617}</a:tableStyleId>
              </a:tblPr>
              <a:tblGrid>
                <a:gridCol w="1753870"/>
                <a:gridCol w="1055370"/>
                <a:gridCol w="6694170"/>
                <a:gridCol w="979805"/>
              </a:tblGrid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评审维度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权重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评审要点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得分自评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行业场景价值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25%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/>
                        <a:t> 是否面向真实、明确且具有代表性的行业问题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是否清楚说明目标用户、核心痛点、现实需求和价值收益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en-US" altLang="zh-CN" sz="1100">
                          <a:sym typeface="Wingdings 2" panose="05020102010507070707" charset="0"/>
                        </a:rPr>
                        <a:t> </a:t>
                      </a:r>
                      <a:r>
                        <a:rPr lang="zh-CN" altLang="en-US" sz="1100"/>
                        <a:t>是否具备复制、迁移或推广潜力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Agent</a:t>
                      </a:r>
                      <a:r>
                        <a:rPr lang="zh-CN" altLang="en-US" sz="1100"/>
                        <a:t>能力与任务闭环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25%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是否体现任务理解、多轮交互、计划生成、工具调用、知识增强、上下文记忆和结果交付等能力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是否完成从用户输入到结果验证的完整流程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产品体验与</a:t>
                      </a:r>
                      <a:r>
                        <a:rPr lang="en-US" altLang="zh-CN" sz="1100"/>
                        <a:t>Demo</a:t>
                      </a:r>
                      <a:r>
                        <a:rPr lang="zh-CN" altLang="en-US" sz="1100"/>
                        <a:t>完成度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交互是否自然、流程是否清楚、反馈是否及时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en-US" altLang="zh-CN" sz="1100"/>
                        <a:t>Demo</a:t>
                      </a:r>
                      <a:r>
                        <a:rPr lang="zh-CN" altLang="en-US" sz="1100"/>
                        <a:t>是否稳定可运行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是否能够让评委快速理解并验证作品的核心价值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技术实现深度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15%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是否合理使用大模型、</a:t>
                      </a:r>
                      <a:r>
                        <a:rPr lang="en-US" altLang="zh-CN" sz="1100"/>
                        <a:t>Agent</a:t>
                      </a:r>
                      <a:r>
                        <a:rPr lang="zh-CN" altLang="en-US" sz="1100"/>
                        <a:t>框架、知识库、工具调用、多模态、工作流系统等能力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架构是否清晰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工程材料是否可复现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安全、合规与可追溯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10%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是否说明数据来源、使用边界、风险提示和合规约束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涉及高风险行业时，是否明确不替代专业人员、机构或主管部门的最终判断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开放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复用贡献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5%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是否形成可复用成果、应用模板、示例数据、文档和开源计划</a:t>
                      </a:r>
                      <a:br>
                        <a:rPr lang="zh-CN" altLang="en-US" sz="1100"/>
                      </a:br>
                      <a:r>
                        <a:rPr lang="zh-CN" altLang="en-US" sz="1100">
                          <a:sym typeface="Wingdings 2" panose="05020102010507070707" charset="0"/>
                        </a:rPr>
                        <a:t></a:t>
                      </a:r>
                      <a:r>
                        <a:rPr lang="zh-CN" altLang="en-US" sz="1100">
                          <a:sym typeface="+mn-ea"/>
                        </a:rPr>
                        <a:t> </a:t>
                      </a:r>
                      <a:r>
                        <a:rPr lang="zh-CN" altLang="en-US" sz="1100"/>
                        <a:t>协议与第三方依赖是否清晰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4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4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4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4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04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metric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关键结果先于细节出现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metric-0"/>
          <p:cNvSpPr>
            <a:spLocks noGrp="1"/>
          </p:cNvSpPr>
          <p:nvPr/>
        </p:nvSpPr>
        <p:spPr>
          <a:xfrm>
            <a:off x="685800" y="2190750"/>
            <a:ext cx="3238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E4F4"/>
            </a:solidFill>
            <a:prstDash val="solid"/>
          </a:ln>
        </p:spPr>
      </p:sp>
      <p:sp>
        <p:nvSpPr>
          <p:cNvPr id="9" name="metric-n-0"/>
          <p:cNvSpPr>
            <a:spLocks noGrp="1"/>
          </p:cNvSpPr>
          <p:nvPr/>
        </p:nvSpPr>
        <p:spPr>
          <a:xfrm>
            <a:off x="952500" y="2400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778F5"/>
                </a:solidFill>
              </a:defRPr>
            </a:pPr>
            <a:r>
              <a:rPr sz="1200" b="1">
                <a:solidFill>
                  <a:srgbClr val="4778F5"/>
                </a:solidFill>
              </a:rPr>
              <a:t>01</a:t>
            </a:r>
            <a:endParaRPr sz="1200" b="1">
              <a:solidFill>
                <a:srgbClr val="4778F5"/>
              </a:solidFill>
            </a:endParaRPr>
          </a:p>
        </p:txBody>
      </p:sp>
      <p:sp>
        <p:nvSpPr>
          <p:cNvPr id="10" name="metric-v-0"/>
          <p:cNvSpPr>
            <a:spLocks noGrp="1"/>
          </p:cNvSpPr>
          <p:nvPr/>
        </p:nvSpPr>
        <p:spPr>
          <a:xfrm>
            <a:off x="952500" y="30670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203047"/>
                </a:solidFill>
              </a:defRPr>
            </a:pPr>
            <a:r>
              <a:rPr sz="2625" b="1">
                <a:solidFill>
                  <a:srgbClr val="203047"/>
                </a:solidFill>
              </a:rPr>
              <a:t>更自然</a:t>
            </a:r>
            <a:endParaRPr sz="2625" b="1">
              <a:solidFill>
                <a:srgbClr val="203047"/>
              </a:solidFill>
            </a:endParaRPr>
          </a:p>
        </p:txBody>
      </p:sp>
      <p:sp>
        <p:nvSpPr>
          <p:cNvPr id="11" name="metric-d-0"/>
          <p:cNvSpPr>
            <a:spLocks noGrp="1"/>
          </p:cNvSpPr>
          <p:nvPr/>
        </p:nvSpPr>
        <p:spPr>
          <a:xfrm>
            <a:off x="952500" y="38100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68B"/>
                </a:solidFill>
              </a:defRPr>
            </a:pPr>
            <a:r>
              <a:rPr sz="1275" b="0">
                <a:solidFill>
                  <a:srgbClr val="66768B"/>
                </a:solidFill>
              </a:rPr>
              <a:t>多模态理解</a:t>
            </a:r>
            <a:endParaRPr sz="1275" b="0">
              <a:solidFill>
                <a:srgbClr val="66768B"/>
              </a:solidFill>
            </a:endParaRPr>
          </a:p>
        </p:txBody>
      </p:sp>
      <p:sp>
        <p:nvSpPr>
          <p:cNvPr id="12" name="metric-l-0"/>
          <p:cNvSpPr>
            <a:spLocks noGrp="1"/>
          </p:cNvSpPr>
          <p:nvPr/>
        </p:nvSpPr>
        <p:spPr>
          <a:xfrm>
            <a:off x="952500" y="4400550"/>
            <a:ext cx="800100" cy="47625"/>
          </a:xfrm>
          <a:prstGeom prst="rect">
            <a:avLst/>
          </a:prstGeom>
          <a:solidFill>
            <a:srgbClr val="4090C8"/>
          </a:solidFill>
          <a:ln w="0">
            <a:noFill/>
            <a:prstDash val="solid"/>
          </a:ln>
        </p:spPr>
      </p:sp>
      <p:sp>
        <p:nvSpPr>
          <p:cNvPr id="13" name="metric-1"/>
          <p:cNvSpPr>
            <a:spLocks noGrp="1"/>
          </p:cNvSpPr>
          <p:nvPr/>
        </p:nvSpPr>
        <p:spPr>
          <a:xfrm>
            <a:off x="4267200" y="2190750"/>
            <a:ext cx="3238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E4F4"/>
            </a:solidFill>
            <a:prstDash val="solid"/>
          </a:ln>
        </p:spPr>
      </p:sp>
      <p:sp>
        <p:nvSpPr>
          <p:cNvPr id="14" name="metric-n-1"/>
          <p:cNvSpPr>
            <a:spLocks noGrp="1"/>
          </p:cNvSpPr>
          <p:nvPr/>
        </p:nvSpPr>
        <p:spPr>
          <a:xfrm>
            <a:off x="4533900" y="2400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778F5"/>
                </a:solidFill>
              </a:defRPr>
            </a:pPr>
            <a:r>
              <a:rPr sz="1200" b="1">
                <a:solidFill>
                  <a:srgbClr val="4778F5"/>
                </a:solidFill>
              </a:rPr>
              <a:t>02</a:t>
            </a:r>
            <a:endParaRPr sz="1200" b="1">
              <a:solidFill>
                <a:srgbClr val="4778F5"/>
              </a:solidFill>
            </a:endParaRPr>
          </a:p>
        </p:txBody>
      </p:sp>
      <p:sp>
        <p:nvSpPr>
          <p:cNvPr id="15" name="metric-v-1"/>
          <p:cNvSpPr>
            <a:spLocks noGrp="1"/>
          </p:cNvSpPr>
          <p:nvPr/>
        </p:nvSpPr>
        <p:spPr>
          <a:xfrm>
            <a:off x="4533900" y="30670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203047"/>
                </a:solidFill>
              </a:defRPr>
            </a:pPr>
            <a:r>
              <a:rPr sz="2625" b="1">
                <a:solidFill>
                  <a:srgbClr val="203047"/>
                </a:solidFill>
              </a:rPr>
              <a:t>更主动</a:t>
            </a:r>
            <a:endParaRPr sz="2625" b="1">
              <a:solidFill>
                <a:srgbClr val="203047"/>
              </a:solidFill>
            </a:endParaRPr>
          </a:p>
        </p:txBody>
      </p:sp>
      <p:sp>
        <p:nvSpPr>
          <p:cNvPr id="16" name="metric-d-1"/>
          <p:cNvSpPr>
            <a:spLocks noGrp="1"/>
          </p:cNvSpPr>
          <p:nvPr/>
        </p:nvSpPr>
        <p:spPr>
          <a:xfrm>
            <a:off x="4533900" y="38100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68B"/>
                </a:solidFill>
              </a:defRPr>
            </a:pPr>
            <a:r>
              <a:rPr sz="1275" b="0">
                <a:solidFill>
                  <a:srgbClr val="66768B"/>
                </a:solidFill>
              </a:rPr>
              <a:t>场景化服务</a:t>
            </a:r>
            <a:endParaRPr sz="1275" b="0">
              <a:solidFill>
                <a:srgbClr val="66768B"/>
              </a:solidFill>
            </a:endParaRPr>
          </a:p>
        </p:txBody>
      </p:sp>
      <p:sp>
        <p:nvSpPr>
          <p:cNvPr id="17" name="metric-l-1"/>
          <p:cNvSpPr>
            <a:spLocks noGrp="1"/>
          </p:cNvSpPr>
          <p:nvPr/>
        </p:nvSpPr>
        <p:spPr>
          <a:xfrm>
            <a:off x="4533900" y="4400550"/>
            <a:ext cx="800100" cy="47625"/>
          </a:xfrm>
          <a:prstGeom prst="rect">
            <a:avLst/>
          </a:prstGeom>
          <a:solidFill>
            <a:srgbClr val="F6A1B0"/>
          </a:solidFill>
          <a:ln w="0">
            <a:noFill/>
            <a:prstDash val="solid"/>
          </a:ln>
        </p:spPr>
      </p:sp>
      <p:sp>
        <p:nvSpPr>
          <p:cNvPr id="18" name="metric-2"/>
          <p:cNvSpPr>
            <a:spLocks noGrp="1"/>
          </p:cNvSpPr>
          <p:nvPr/>
        </p:nvSpPr>
        <p:spPr>
          <a:xfrm>
            <a:off x="7848600" y="2190750"/>
            <a:ext cx="3238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E4F4"/>
            </a:solidFill>
            <a:prstDash val="solid"/>
          </a:ln>
        </p:spPr>
      </p:sp>
      <p:sp>
        <p:nvSpPr>
          <p:cNvPr id="19" name="metric-n-2"/>
          <p:cNvSpPr>
            <a:spLocks noGrp="1"/>
          </p:cNvSpPr>
          <p:nvPr/>
        </p:nvSpPr>
        <p:spPr>
          <a:xfrm>
            <a:off x="8115300" y="2400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778F5"/>
                </a:solidFill>
              </a:defRPr>
            </a:pPr>
            <a:r>
              <a:rPr sz="1200" b="1">
                <a:solidFill>
                  <a:srgbClr val="4778F5"/>
                </a:solidFill>
              </a:rPr>
              <a:t>03</a:t>
            </a:r>
            <a:endParaRPr sz="1200" b="1">
              <a:solidFill>
                <a:srgbClr val="4778F5"/>
              </a:solidFill>
            </a:endParaRPr>
          </a:p>
        </p:txBody>
      </p:sp>
      <p:sp>
        <p:nvSpPr>
          <p:cNvPr id="20" name="metric-v-2"/>
          <p:cNvSpPr>
            <a:spLocks noGrp="1"/>
          </p:cNvSpPr>
          <p:nvPr/>
        </p:nvSpPr>
        <p:spPr>
          <a:xfrm>
            <a:off x="8115300" y="30670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203047"/>
                </a:solidFill>
              </a:defRPr>
            </a:pPr>
            <a:r>
              <a:rPr sz="2625" b="1">
                <a:solidFill>
                  <a:srgbClr val="203047"/>
                </a:solidFill>
              </a:rPr>
              <a:t>更可信</a:t>
            </a:r>
            <a:endParaRPr sz="2625" b="1">
              <a:solidFill>
                <a:srgbClr val="203047"/>
              </a:solidFill>
            </a:endParaRPr>
          </a:p>
        </p:txBody>
      </p:sp>
      <p:sp>
        <p:nvSpPr>
          <p:cNvPr id="21" name="metric-d-2"/>
          <p:cNvSpPr>
            <a:spLocks noGrp="1"/>
          </p:cNvSpPr>
          <p:nvPr/>
        </p:nvSpPr>
        <p:spPr>
          <a:xfrm>
            <a:off x="8115300" y="38100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68B"/>
                </a:solidFill>
              </a:defRPr>
            </a:pPr>
            <a:r>
              <a:rPr sz="1275" b="0">
                <a:solidFill>
                  <a:srgbClr val="66768B"/>
                </a:solidFill>
              </a:rPr>
              <a:t>安全可追溯</a:t>
            </a:r>
            <a:endParaRPr sz="1275" b="0">
              <a:solidFill>
                <a:srgbClr val="66768B"/>
              </a:solidFill>
            </a:endParaRPr>
          </a:p>
        </p:txBody>
      </p:sp>
      <p:sp>
        <p:nvSpPr>
          <p:cNvPr id="22" name="metric-l-2"/>
          <p:cNvSpPr>
            <a:spLocks noGrp="1"/>
          </p:cNvSpPr>
          <p:nvPr/>
        </p:nvSpPr>
        <p:spPr>
          <a:xfrm>
            <a:off x="8115300" y="4400550"/>
            <a:ext cx="800100" cy="47625"/>
          </a:xfrm>
          <a:prstGeom prst="rect">
            <a:avLst/>
          </a:prstGeom>
          <a:solidFill>
            <a:srgbClr val="4090C8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5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5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5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5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05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road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用清晰节奏推进方案落地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road-line"/>
          <p:cNvSpPr>
            <a:spLocks noGrp="1"/>
          </p:cNvSpPr>
          <p:nvPr/>
        </p:nvSpPr>
        <p:spPr>
          <a:xfrm>
            <a:off x="1409700" y="3219450"/>
            <a:ext cx="9372600" cy="28575"/>
          </a:xfrm>
          <a:prstGeom prst="rect">
            <a:avLst/>
          </a:prstGeom>
          <a:solidFill>
            <a:srgbClr val="BCD3EA"/>
          </a:solidFill>
          <a:ln w="0">
            <a:noFill/>
            <a:prstDash val="solid"/>
          </a:ln>
        </p:spPr>
      </p:sp>
      <p:sp>
        <p:nvSpPr>
          <p:cNvPr id="9" name="road-dot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0" name="road-num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01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1" name="road-name-0"/>
          <p:cNvSpPr>
            <a:spLocks noGrp="1"/>
          </p:cNvSpPr>
          <p:nvPr/>
        </p:nvSpPr>
        <p:spPr>
          <a:xfrm>
            <a:off x="723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洞察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2" name="road-desc-0"/>
          <p:cNvSpPr>
            <a:spLocks noGrp="1"/>
          </p:cNvSpPr>
          <p:nvPr/>
        </p:nvSpPr>
        <p:spPr>
          <a:xfrm>
            <a:off x="552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明确场景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3" name="road-dot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4" name="road-num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02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5" name="road-name-1"/>
          <p:cNvSpPr>
            <a:spLocks noGrp="1"/>
          </p:cNvSpPr>
          <p:nvPr/>
        </p:nvSpPr>
        <p:spPr>
          <a:xfrm>
            <a:off x="3390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设计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6" name="road-desc-1"/>
          <p:cNvSpPr>
            <a:spLocks noGrp="1"/>
          </p:cNvSpPr>
          <p:nvPr/>
        </p:nvSpPr>
        <p:spPr>
          <a:xfrm>
            <a:off x="3219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定义体验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7" name="road-dot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8" name="road-num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03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9" name="road-name-2"/>
          <p:cNvSpPr>
            <a:spLocks noGrp="1"/>
          </p:cNvSpPr>
          <p:nvPr/>
        </p:nvSpPr>
        <p:spPr>
          <a:xfrm>
            <a:off x="6057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验证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0" name="road-desc-2"/>
          <p:cNvSpPr>
            <a:spLocks noGrp="1"/>
          </p:cNvSpPr>
          <p:nvPr/>
        </p:nvSpPr>
        <p:spPr>
          <a:xfrm>
            <a:off x="5886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闭环测试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21" name="road-dot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ellipse">
            <a:avLst/>
          </a:prstGeom>
          <a:solidFill>
            <a:srgbClr val="4778F5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22" name="road-num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3" name="road-name-3"/>
          <p:cNvSpPr>
            <a:spLocks noGrp="1"/>
          </p:cNvSpPr>
          <p:nvPr/>
        </p:nvSpPr>
        <p:spPr>
          <a:xfrm>
            <a:off x="8724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交付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4" name="road-desc-3"/>
          <p:cNvSpPr>
            <a:spLocks noGrp="1"/>
          </p:cNvSpPr>
          <p:nvPr/>
        </p:nvSpPr>
        <p:spPr>
          <a:xfrm>
            <a:off x="8553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持续迭代</a:t>
            </a:r>
            <a:endParaRPr sz="1125" b="0">
              <a:solidFill>
                <a:srgbClr val="6676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9600"/>
            <a:ext cx="533400" cy="533400"/>
          </a:xfrm>
          <a:prstGeom prst="rect">
            <a:avLst/>
          </a:prstGeom>
        </p:spPr>
      </p:pic>
      <p:sp>
        <p:nvSpPr>
          <p:cNvPr id="2" name="close-brand"/>
          <p:cNvSpPr>
            <a:spLocks noGrp="1"/>
          </p:cNvSpPr>
          <p:nvPr/>
        </p:nvSpPr>
        <p:spPr>
          <a:xfrm>
            <a:off x="1390650" y="6286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DriveMate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3" name="close-title"/>
          <p:cNvSpPr>
            <a:spLocks noGrp="1"/>
          </p:cNvSpPr>
          <p:nvPr/>
        </p:nvSpPr>
        <p:spPr>
          <a:xfrm>
            <a:off x="685800" y="226695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让智能成为可靠的出行伙伴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close-sub"/>
          <p:cNvSpPr>
            <a:spLocks noGrp="1"/>
          </p:cNvSpPr>
          <p:nvPr/>
        </p:nvSpPr>
        <p:spPr>
          <a:xfrm>
            <a:off x="723900" y="32766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DCE8FF"/>
                </a:solidFill>
              </a:defRPr>
            </a:pPr>
            <a:r>
              <a:rPr sz="1575" b="0">
                <a:solidFill>
                  <a:srgbClr val="DCE8FF"/>
                </a:solidFill>
              </a:rPr>
              <a:t>讨论 · 决策 · 下一步</a:t>
            </a:r>
            <a:endParaRPr sz="1575" b="0">
              <a:solidFill>
                <a:srgbClr val="DCE8FF"/>
              </a:solidFill>
            </a:endParaRPr>
          </a:p>
        </p:txBody>
      </p:sp>
      <p:sp>
        <p:nvSpPr>
          <p:cNvPr id="5" name="close-line"/>
          <p:cNvSpPr>
            <a:spLocks noGrp="1"/>
          </p:cNvSpPr>
          <p:nvPr/>
        </p:nvSpPr>
        <p:spPr>
          <a:xfrm>
            <a:off x="723900" y="3981450"/>
            <a:ext cx="1714500" cy="47625"/>
          </a:xfrm>
          <a:prstGeom prst="rect">
            <a:avLst/>
          </a:prstGeom>
          <a:solidFill>
            <a:srgbClr val="F6A1B0"/>
          </a:solidFill>
          <a:ln w="0">
            <a:noFill/>
            <a:prstDash val="solid"/>
          </a:ln>
        </p:spPr>
      </p:sp>
      <p:sp>
        <p:nvSpPr>
          <p:cNvPr id="6" name="close-contact"/>
          <p:cNvSpPr>
            <a:spLocks noGrp="1"/>
          </p:cNvSpPr>
          <p:nvPr/>
        </p:nvSpPr>
        <p:spPr>
          <a:xfrm>
            <a:off x="723900" y="45148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联系人  |  邮箱  |  电话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7" name="close-mark"/>
          <p:cNvSpPr>
            <a:spLocks noGrp="1"/>
          </p:cNvSpPr>
          <p:nvPr/>
        </p:nvSpPr>
        <p:spPr>
          <a:xfrm>
            <a:off x="9525000" y="4229100"/>
            <a:ext cx="1714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0" b="1">
                <a:solidFill>
                  <a:srgbClr val="6F98FA"/>
                </a:solidFill>
              </a:defRPr>
            </a:pPr>
            <a:r>
              <a:rPr sz="6900" b="1">
                <a:solidFill>
                  <a:srgbClr val="6F98FA"/>
                </a:solidFill>
              </a:rPr>
              <a:t>DM</a:t>
            </a:r>
            <a:endParaRPr sz="6900" b="1">
              <a:solidFill>
                <a:srgbClr val="6F98F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WPS 演示</Application>
  <PresentationFormat>Converted Presentation</PresentationFormat>
  <Paragraphs>252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Wingdings 2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Carol</cp:lastModifiedBy>
  <cp:revision>2</cp:revision>
  <dcterms:created xsi:type="dcterms:W3CDTF">2026-09-03T08:13:46Z</dcterms:created>
  <dcterms:modified xsi:type="dcterms:W3CDTF">2026-09-03T08:16:06Z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B14C2E9778B44D4989A7AB580F044E77_12</vt:lpwstr>
  </property>
</Properties>
</file>