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2a741a4e1466e" /><Relationship Type="http://schemas.openxmlformats.org/officeDocument/2006/relationships/extended-properties" Target="/docProps/app.xml" Id="R2c97a4f00bc64251" /><Relationship Type="http://schemas.openxmlformats.org/officeDocument/2006/relationships/officeDocument" Target="/ppt/presentation.xml" Id="R667718f59db442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8a3f49b6dc478b"/>
  </p:sldMasterIdLst>
  <p:notesMasterIdLst>
    <p:notesMasterId xmlns:r="http://schemas.openxmlformats.org/officeDocument/2006/relationships" r:id="R7a1d28db07d046ba"/>
  </p:notesMasterIdLst>
  <p:sldIdLst>
    <p:sldId xmlns:r="http://schemas.openxmlformats.org/officeDocument/2006/relationships" id="256" r:id="Rdaf0aba58bf44cbe"/>
    <p:sldId xmlns:r="http://schemas.openxmlformats.org/officeDocument/2006/relationships" id="257" r:id="Rc7907a95afdc4c50"/>
    <p:sldId xmlns:r="http://schemas.openxmlformats.org/officeDocument/2006/relationships" id="258" r:id="Rf354d059e177427e"/>
    <p:sldId xmlns:r="http://schemas.openxmlformats.org/officeDocument/2006/relationships" id="259" r:id="R4bbd26f43b734cd2"/>
    <p:sldId xmlns:r="http://schemas.openxmlformats.org/officeDocument/2006/relationships" id="260" r:id="R3bb176bd315c4ada"/>
    <p:sldId xmlns:r="http://schemas.openxmlformats.org/officeDocument/2006/relationships" id="261" r:id="R413229f6283c4c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1baea3ec71433a" /><Relationship Type="http://schemas.openxmlformats.org/officeDocument/2006/relationships/slideMaster" Target="/ppt/slideMasters/slideMaster1.xml" Id="R378a3f49b6dc478b" /><Relationship Type="http://schemas.openxmlformats.org/officeDocument/2006/relationships/notesMaster" Target="/ppt/notesMasters/notesMaster1.xml" Id="R7a1d28db07d046ba" /><Relationship Type="http://schemas.openxmlformats.org/officeDocument/2006/relationships/presProps" Target="/ppt/presProps.xml" Id="Rcc50ec3d040e4ea7" /><Relationship Type="http://schemas.openxmlformats.org/officeDocument/2006/relationships/tableStyles" Target="/ppt/tableStyles.xml" Id="R94e889e2aa0845d1" /><Relationship Type="http://schemas.openxmlformats.org/officeDocument/2006/relationships/slide" Target="/ppt/slides/slide1.xml" Id="Rdaf0aba58bf44cbe" /><Relationship Type="http://schemas.openxmlformats.org/officeDocument/2006/relationships/slide" Target="/ppt/slides/slide2.xml" Id="Rc7907a95afdc4c50" /><Relationship Type="http://schemas.openxmlformats.org/officeDocument/2006/relationships/slide" Target="/ppt/slides/slide3.xml" Id="Rf354d059e177427e" /><Relationship Type="http://schemas.openxmlformats.org/officeDocument/2006/relationships/slide" Target="/ppt/slides/slide4.xml" Id="R4bbd26f43b734cd2" /><Relationship Type="http://schemas.openxmlformats.org/officeDocument/2006/relationships/slide" Target="/ppt/slides/slide5.xml" Id="R3bb176bd315c4ada" /><Relationship Type="http://schemas.openxmlformats.org/officeDocument/2006/relationships/slide" Target="/ppt/slides/slide6.xml" Id="R413229f6283c4c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fde809bcc14c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59af0c563a45db" /><Relationship Type="http://schemas.openxmlformats.org/officeDocument/2006/relationships/notesMaster" Target="/ppt/notesMasters/notesMaster1.xml" Id="R7c31994bf32044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9eebc08e6d419e" /><Relationship Type="http://schemas.openxmlformats.org/officeDocument/2006/relationships/notesMaster" Target="/ppt/notesMasters/notesMaster1.xml" Id="R1338ce837eba45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17baba8b764d2c" /><Relationship Type="http://schemas.openxmlformats.org/officeDocument/2006/relationships/notesMaster" Target="/ppt/notesMasters/notesMaster1.xml" Id="Rfc6b55a1d0c141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f3a57b143a48c2" /><Relationship Type="http://schemas.openxmlformats.org/officeDocument/2006/relationships/notesMaster" Target="/ppt/notesMasters/notesMaster1.xml" Id="R1ca45fb6968044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36c9cc0bd44e12" /><Relationship Type="http://schemas.openxmlformats.org/officeDocument/2006/relationships/notesMaster" Target="/ppt/notesMasters/notesMaster1.xml" Id="R7446afdd0afe43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d304279cae4023" /><Relationship Type="http://schemas.openxmlformats.org/officeDocument/2006/relationships/notesMaster" Target="/ppt/notesMasters/notesMaster1.xml" Id="Rbbc77698c8c641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13ffcc8b749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fc75ce7a3947c3" /><Relationship Type="http://schemas.openxmlformats.org/officeDocument/2006/relationships/slideLayout" Target="/ppt/slideLayouts/slideLayout1.xml" Id="R7d389347df144a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389347df144a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9a94534394103" /><Relationship Type="http://schemas.openxmlformats.org/officeDocument/2006/relationships/image" Target="/ppt/media/image.png" Id="R271b46cb6b4b4960" /><Relationship Type="http://schemas.openxmlformats.org/officeDocument/2006/relationships/notesSlide" Target="/ppt/notesSlides/notesSlide1.xml" Id="R3d18b670384a46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521b8fcee4525" /><Relationship Type="http://schemas.openxmlformats.org/officeDocument/2006/relationships/image" Target="/ppt/media/image2.png" Id="R11b5bfcdef8140a9" /><Relationship Type="http://schemas.openxmlformats.org/officeDocument/2006/relationships/notesSlide" Target="/ppt/notesSlides/notesSlide2.xml" Id="Rcab4260724f742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f3b59d89644a3" /><Relationship Type="http://schemas.openxmlformats.org/officeDocument/2006/relationships/image" Target="/ppt/media/image3.png" Id="R2ca8532a85774de0" /><Relationship Type="http://schemas.openxmlformats.org/officeDocument/2006/relationships/notesSlide" Target="/ppt/notesSlides/notesSlide3.xml" Id="R8e8b62dd21984a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186153b494cac" /><Relationship Type="http://schemas.openxmlformats.org/officeDocument/2006/relationships/image" Target="/ppt/media/image4.png" Id="R757cfd0518074b5b" /><Relationship Type="http://schemas.openxmlformats.org/officeDocument/2006/relationships/notesSlide" Target="/ppt/notesSlides/notesSlide4.xml" Id="Rf7156d0cd82a49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80bff92c64e0b" /><Relationship Type="http://schemas.openxmlformats.org/officeDocument/2006/relationships/image" Target="/ppt/media/image5.png" Id="Ra94a7affc5d94354" /><Relationship Type="http://schemas.openxmlformats.org/officeDocument/2006/relationships/notesSlide" Target="/ppt/notesSlides/notesSlide5.xml" Id="R4905f429586041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8e98ecbcb4ee9" /><Relationship Type="http://schemas.openxmlformats.org/officeDocument/2006/relationships/image" Target="/ppt/media/image6.png" Id="Ref09d0d78fb14612" /><Relationship Type="http://schemas.openxmlformats.org/officeDocument/2006/relationships/notesSlide" Target="/ppt/notesSlides/notesSlide6.xml" Id="R76750db211224a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1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band">
            <a:extLst xmlns:a="http://schemas.openxmlformats.org/drawingml/2006/main">
              <a:ext uri="{FF2B5EF4-FFF2-40B4-BE49-F238E27FC236}">
                <a16:creationId xmlns:a16="http://schemas.microsoft.com/office/drawing/2014/main" id="{519A3B88-23C0-4151-AC25-A457941D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E7DB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b46cb6b4b4960"/>
          <a:stretch xmlns:a="http://schemas.openxmlformats.org/drawingml/2006/main"/>
        </p:blipFill>
        <p:spPr>
          <a:xfrm xmlns:a="http://schemas.openxmlformats.org/drawingml/2006/main">
            <a:off x="685800" y="5905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353074F9-A937-4DC8-92D9-EF0FCCBD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77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DriveMate</a:t>
            </a:r>
          </a:p>
        </p:txBody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DDBA3B9-61A3-41F3-A2AC-5AAC96AF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C7E8"/>
                </a:solidFill>
              </a:defRPr>
            </a:pPr>
            <a:r>
              <a:rPr sz="1050" b="1">
                <a:solidFill>
                  <a:srgbClr val="8FC7E8"/>
                </a:solidFill>
              </a:rPr>
              <a:t>EXECUTIVE PROPOSAL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37F76DC-D451-4CEE-814F-21687136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智能座舱解决方案</a:t>
            </a:r>
          </a:p>
        </p:txBody>
      </p:sp>
      <p:sp>
        <p:nvSpPr>
          <p:cNvPr id="6" name="cover-sub">
            <a:extLst xmlns:a="http://schemas.openxmlformats.org/drawingml/2006/main">
              <a:ext uri="{FF2B5EF4-FFF2-40B4-BE49-F238E27FC236}">
                <a16:creationId xmlns:a16="http://schemas.microsoft.com/office/drawing/2014/main" id="{029290D3-B67F-4641-9CC5-8EFDFE3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9E8"/>
                </a:solidFill>
              </a:defRPr>
            </a:pPr>
            <a:r>
              <a:rPr sz="1650" b="0">
                <a:solidFill>
                  <a:srgbClr val="C8D9E8"/>
                </a:solidFill>
              </a:rPr>
              <a:t>面向决策、评审与客户提案的专业模板</a:t>
            </a:r>
          </a:p>
        </p:txBody>
      </p:sp>
      <p:sp>
        <p:nvSpPr>
          <p:cNvPr id="7" name="cover-line">
            <a:extLst xmlns:a="http://schemas.openxmlformats.org/drawingml/2006/main">
              <a:ext uri="{FF2B5EF4-FFF2-40B4-BE49-F238E27FC236}">
                <a16:creationId xmlns:a16="http://schemas.microsoft.com/office/drawing/2014/main" id="{8A0FDA4D-2571-4372-8882-277588B9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960F575A-6188-4532-937A-01155D4B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9E8"/>
                </a:solidFill>
              </a:defRPr>
            </a:pPr>
            <a:r>
              <a:rPr sz="1200" b="0">
                <a:solidFill>
                  <a:srgbClr val="C8D9E8"/>
                </a:solidFill>
              </a:rPr>
              <a:t>客户 / 项目 / 日期 / 保密级别</a:t>
            </a:r>
          </a:p>
        </p:txBody>
      </p:sp>
      <p:sp>
        <p:nvSpPr>
          <p:cNvPr id="9" name="cover-code">
            <a:extLst xmlns:a="http://schemas.openxmlformats.org/drawingml/2006/main">
              <a:ext uri="{FF2B5EF4-FFF2-40B4-BE49-F238E27FC236}">
                <a16:creationId xmlns:a16="http://schemas.microsoft.com/office/drawing/2014/main" id="{734E069B-253B-4811-95FA-8B30C535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48150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386282"/>
                </a:solidFill>
              </a:defRPr>
            </a:pPr>
            <a:r>
              <a:rPr sz="3150" b="1">
                <a:solidFill>
                  <a:srgbClr val="386282"/>
                </a:solidFill>
              </a:rPr>
              <a:t>DM</a:t>
            </a:r>
          </a:p>
          <a:p xmlns:a="http://schemas.openxmlformats.org/drawingml/2006/main">
            <a:pPr algn="r">
              <a:defRPr sz="3150" b="1">
                <a:solidFill>
                  <a:srgbClr val="386282"/>
                </a:solidFill>
              </a:defRPr>
            </a:pPr>
            <a:r>
              <a:rPr sz="3150" b="1">
                <a:solidFill>
                  <a:srgbClr val="386282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290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5bfcdef8140a9"/>
          <a:stretch xmlns:a="http://schemas.openxmlformats.org/drawingml/2006/main"/>
        </p:blipFill>
        <p:spPr>
          <a:xfrm xmlns:a="http://schemas.openxmlformats.org/drawingml/2006/main">
            <a:off x="685800" y="304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brand-72-32">
            <a:extLst xmlns:a="http://schemas.openxmlformats.org/drawingml/2006/main">
              <a:ext uri="{FF2B5EF4-FFF2-40B4-BE49-F238E27FC236}">
                <a16:creationId xmlns:a16="http://schemas.microsoft.com/office/drawing/2014/main" id="{A25E2624-9EF3-4FEB-84A2-9A7A76DA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B"/>
                </a:solidFill>
              </a:defRPr>
            </a:pPr>
            <a:r>
              <a:rPr sz="1650" b="1">
                <a:solidFill>
                  <a:srgbClr val="14253B"/>
                </a:solidFill>
              </a:rPr>
              <a:t>DriveMate</a:t>
            </a:r>
          </a:p>
        </p:txBody>
      </p:sp>
      <p:sp>
        <p:nvSpPr>
          <p:cNvPr id="3" name="exec-rule-2">
            <a:extLst xmlns:a="http://schemas.openxmlformats.org/drawingml/2006/main">
              <a:ext uri="{FF2B5EF4-FFF2-40B4-BE49-F238E27FC236}">
                <a16:creationId xmlns:a16="http://schemas.microsoft.com/office/drawing/2014/main" id="{7635BD22-A419-4A52-BFCC-EF9A407E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4B591AE4-DA7B-4C26-B95A-FDC7F59B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096"/>
                </a:solidFill>
              </a:defRPr>
            </a:pPr>
            <a:r>
              <a:rPr sz="750" b="1">
                <a:solidFill>
                  <a:srgbClr val="718096"/>
                </a:solidFill>
              </a:rPr>
              <a:t>DRIVEMATE · EXECUTIVE BRIEF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1F86535F-170B-4FFE-83E1-34CCD2CD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096"/>
                </a:solidFill>
              </a:defRPr>
            </a:pPr>
            <a:r>
              <a:rPr sz="750" b="1">
                <a:solidFill>
                  <a:srgbClr val="718096"/>
                </a:solidFill>
              </a:rPr>
              <a:t>02</a:t>
            </a:r>
          </a:p>
        </p:txBody>
      </p:sp>
      <p:sp>
        <p:nvSpPr>
          <p:cNvPr id="6" name="exec-kicker">
            <a:extLst xmlns:a="http://schemas.openxmlformats.org/drawingml/2006/main">
              <a:ext uri="{FF2B5EF4-FFF2-40B4-BE49-F238E27FC236}">
                <a16:creationId xmlns:a16="http://schemas.microsoft.com/office/drawing/2014/main" id="{F4D5A3BF-7521-4E1D-8585-43C4F85F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B2"/>
                </a:solidFill>
              </a:defRPr>
            </a:pPr>
            <a:r>
              <a:rPr sz="975" b="1">
                <a:solidFill>
                  <a:srgbClr val="2E7DB2"/>
                </a:solidFill>
              </a:rPr>
              <a:t>EXECUTIVE SUMMARY</a:t>
            </a:r>
          </a:p>
        </p:txBody>
      </p:sp>
      <p:sp>
        <p:nvSpPr>
          <p:cNvPr id="7" name="exec-title">
            <a:extLst xmlns:a="http://schemas.openxmlformats.org/drawingml/2006/main">
              <a:ext uri="{FF2B5EF4-FFF2-40B4-BE49-F238E27FC236}">
                <a16:creationId xmlns:a16="http://schemas.microsoft.com/office/drawing/2014/main" id="{C2D2EA96-EA6A-488E-96DA-88FB2916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53B"/>
                </a:solidFill>
              </a:defRPr>
            </a:pPr>
            <a:r>
              <a:rPr sz="2925" b="1">
                <a:solidFill>
                  <a:srgbClr val="14253B"/>
                </a:solidFill>
              </a:rPr>
              <a:t>先给结论，再展开依据</a:t>
            </a:r>
          </a:p>
        </p:txBody>
      </p:sp>
      <p:sp>
        <p:nvSpPr>
          <p:cNvPr id="8" name="exec-callout">
            <a:extLst xmlns:a="http://schemas.openxmlformats.org/drawingml/2006/main">
              <a:ext uri="{FF2B5EF4-FFF2-40B4-BE49-F238E27FC236}">
                <a16:creationId xmlns:a16="http://schemas.microsoft.com/office/drawing/2014/main" id="{968B35DD-B7D9-4A8B-82C7-046296F1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E3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ec-callout-text">
            <a:extLst xmlns:a="http://schemas.openxmlformats.org/drawingml/2006/main">
              <a:ext uri="{FF2B5EF4-FFF2-40B4-BE49-F238E27FC236}">
                <a16:creationId xmlns:a16="http://schemas.microsoft.com/office/drawing/2014/main" id="{0DAAE5D8-B10F-4D31-9B78-1CD155BD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在这里写一句可直接支持决策的核心结论</a:t>
            </a:r>
          </a:p>
        </p:txBody>
      </p:sp>
      <p:sp>
        <p:nvSpPr>
          <p:cNvPr id="10" name="exec-callout-sub">
            <a:extLst xmlns:a="http://schemas.openxmlformats.org/drawingml/2006/main">
              <a:ext uri="{FF2B5EF4-FFF2-40B4-BE49-F238E27FC236}">
                <a16:creationId xmlns:a16="http://schemas.microsoft.com/office/drawing/2014/main" id="{7CD2F37A-5FCD-48DD-AA75-8F545333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9E8"/>
                </a:solidFill>
              </a:defRPr>
            </a:pPr>
            <a:r>
              <a:rPr sz="1275" b="0">
                <a:solidFill>
                  <a:srgbClr val="C8D9E8"/>
                </a:solidFill>
              </a:rPr>
              <a:t>补充范围、价值和关键边界，避免使用未经验证的承诺。</a:t>
            </a:r>
          </a:p>
        </p:txBody>
      </p:sp>
      <p:sp>
        <p:nvSpPr>
          <p:cNvPr id="11" name="exec-foot">
            <a:extLst xmlns:a="http://schemas.openxmlformats.org/drawingml/2006/main">
              <a:ext uri="{FF2B5EF4-FFF2-40B4-BE49-F238E27FC236}">
                <a16:creationId xmlns:a16="http://schemas.microsoft.com/office/drawing/2014/main" id="{57E14DCE-E83E-4CF9-B9F5-DB63F197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6"/>
                </a:solidFill>
              </a:defRPr>
            </a:pPr>
            <a:r>
              <a:rPr sz="1275" b="0">
                <a:solidFill>
                  <a:srgbClr val="637286"/>
                </a:solidFill>
              </a:rPr>
              <a:t>建议：一页只承载一个关键判断</a:t>
            </a:r>
          </a:p>
        </p:txBody>
      </p:sp>
    </p:spTree>
    <p:extLst>
      <p:ext uri="{BB962C8B-B14F-4D97-AF65-F5344CB8AC3E}">
        <p14:creationId xmlns:p14="http://schemas.microsoft.com/office/powerpoint/2010/main" val="750647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8532a85774de0"/>
          <a:stretch xmlns:a="http://schemas.openxmlformats.org/drawingml/2006/main"/>
        </p:blipFill>
        <p:spPr>
          <a:xfrm xmlns:a="http://schemas.openxmlformats.org/drawingml/2006/main">
            <a:off x="685800" y="304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brand-72-32">
            <a:extLst xmlns:a="http://schemas.openxmlformats.org/drawingml/2006/main">
              <a:ext uri="{FF2B5EF4-FFF2-40B4-BE49-F238E27FC236}">
                <a16:creationId xmlns:a16="http://schemas.microsoft.com/office/drawing/2014/main" id="{EF9FD806-4092-4D4C-9463-BB620DA7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B"/>
                </a:solidFill>
              </a:defRPr>
            </a:pPr>
            <a:r>
              <a:rPr sz="1650" b="1">
                <a:solidFill>
                  <a:srgbClr val="14253B"/>
                </a:solidFill>
              </a:rPr>
              <a:t>DriveMate</a:t>
            </a:r>
          </a:p>
        </p:txBody>
      </p:sp>
      <p:sp>
        <p:nvSpPr>
          <p:cNvPr id="3" name="exec-rule-3">
            <a:extLst xmlns:a="http://schemas.openxmlformats.org/drawingml/2006/main">
              <a:ext uri="{FF2B5EF4-FFF2-40B4-BE49-F238E27FC236}">
                <a16:creationId xmlns:a16="http://schemas.microsoft.com/office/drawing/2014/main" id="{CD396530-814F-4992-9C04-DADA26BB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EA75B896-4F7D-4A6F-A328-CCDAC5DE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096"/>
                </a:solidFill>
              </a:defRPr>
            </a:pPr>
            <a:r>
              <a:rPr sz="750" b="1">
                <a:solidFill>
                  <a:srgbClr val="718096"/>
                </a:solidFill>
              </a:rPr>
              <a:t>DRIVEMATE · EXECUTIVE BRIEF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5847DB13-B296-4409-A766-867D84AA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096"/>
                </a:solidFill>
              </a:defRPr>
            </a:pPr>
            <a:r>
              <a:rPr sz="750" b="1">
                <a:solidFill>
                  <a:srgbClr val="718096"/>
                </a:solidFill>
              </a:rPr>
              <a:t>03</a:t>
            </a:r>
          </a:p>
        </p:txBody>
      </p:sp>
      <p:sp>
        <p:nvSpPr>
          <p:cNvPr id="6" name="compare-title">
            <a:extLst xmlns:a="http://schemas.openxmlformats.org/drawingml/2006/main">
              <a:ext uri="{FF2B5EF4-FFF2-40B4-BE49-F238E27FC236}">
                <a16:creationId xmlns:a16="http://schemas.microsoft.com/office/drawing/2014/main" id="{3CBB6FCF-1198-493C-900C-CF402243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53B"/>
                </a:solidFill>
              </a:defRPr>
            </a:pPr>
            <a:r>
              <a:rPr sz="2850" b="1">
                <a:solidFill>
                  <a:srgbClr val="14253B"/>
                </a:solidFill>
              </a:rPr>
              <a:t>三项标准决定方案是否值得推进</a:t>
            </a:r>
          </a:p>
        </p:txBody>
      </p:sp>
      <p:sp>
        <p:nvSpPr>
          <p:cNvPr id="7" name="row-n-0">
            <a:extLst xmlns:a="http://schemas.openxmlformats.org/drawingml/2006/main">
              <a:ext uri="{FF2B5EF4-FFF2-40B4-BE49-F238E27FC236}">
                <a16:creationId xmlns:a16="http://schemas.microsoft.com/office/drawing/2014/main" id="{D63B810A-30FC-4DAF-89A5-3B046CDE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B2"/>
                </a:solidFill>
              </a:defRPr>
            </a:pPr>
            <a:r>
              <a:rPr sz="1800" b="1">
                <a:solidFill>
                  <a:srgbClr val="2E7DB2"/>
                </a:solidFill>
              </a:rPr>
              <a:t>01</a:t>
            </a:r>
          </a:p>
        </p:txBody>
      </p:sp>
      <p:sp>
        <p:nvSpPr>
          <p:cNvPr id="8" name="row-title-0">
            <a:extLst xmlns:a="http://schemas.openxmlformats.org/drawingml/2006/main">
              <a:ext uri="{FF2B5EF4-FFF2-40B4-BE49-F238E27FC236}">
                <a16:creationId xmlns:a16="http://schemas.microsoft.com/office/drawing/2014/main" id="{98C1F536-6606-4480-BAAC-661D9EE8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90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B"/>
                </a:solidFill>
              </a:defRPr>
            </a:pPr>
            <a:r>
              <a:rPr sz="1800" b="1">
                <a:solidFill>
                  <a:srgbClr val="14253B"/>
                </a:solidFill>
              </a:rPr>
              <a:t>业务价值</a:t>
            </a:r>
          </a:p>
        </p:txBody>
      </p:sp>
      <p:sp>
        <p:nvSpPr>
          <p:cNvPr id="9" name="row-desc-0">
            <a:extLst xmlns:a="http://schemas.openxmlformats.org/drawingml/2006/main">
              <a:ext uri="{FF2B5EF4-FFF2-40B4-BE49-F238E27FC236}">
                <a16:creationId xmlns:a16="http://schemas.microsoft.com/office/drawing/2014/main" id="{DE6B0FB4-6542-4CAB-AB80-20111CAF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6"/>
                </a:solidFill>
              </a:defRPr>
            </a:pPr>
            <a:r>
              <a:rPr sz="1350" b="0">
                <a:solidFill>
                  <a:srgbClr val="637286"/>
                </a:solidFill>
              </a:rPr>
              <a:t>是否解决高频、刚需场景</a:t>
            </a:r>
          </a:p>
        </p:txBody>
      </p:sp>
      <p:sp>
        <p:nvSpPr>
          <p:cNvPr id="10" name="row-line-0">
            <a:extLst xmlns:a="http://schemas.openxmlformats.org/drawingml/2006/main">
              <a:ext uri="{FF2B5EF4-FFF2-40B4-BE49-F238E27FC236}">
                <a16:creationId xmlns:a16="http://schemas.microsoft.com/office/drawing/2014/main" id="{A0B95058-B7D1-4C6C-AAA1-90F45A3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w-n-1">
            <a:extLst xmlns:a="http://schemas.openxmlformats.org/drawingml/2006/main">
              <a:ext uri="{FF2B5EF4-FFF2-40B4-BE49-F238E27FC236}">
                <a16:creationId xmlns:a16="http://schemas.microsoft.com/office/drawing/2014/main" id="{3A0CBBC1-D228-4771-97D2-23AFED10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B2"/>
                </a:solidFill>
              </a:defRPr>
            </a:pPr>
            <a:r>
              <a:rPr sz="1800" b="1">
                <a:solidFill>
                  <a:srgbClr val="2E7DB2"/>
                </a:solidFill>
              </a:rPr>
              <a:t>02</a:t>
            </a:r>
          </a:p>
        </p:txBody>
      </p:sp>
      <p:sp>
        <p:nvSpPr>
          <p:cNvPr id="12" name="row-title-1">
            <a:extLst xmlns:a="http://schemas.openxmlformats.org/drawingml/2006/main">
              <a:ext uri="{FF2B5EF4-FFF2-40B4-BE49-F238E27FC236}">
                <a16:creationId xmlns:a16="http://schemas.microsoft.com/office/drawing/2014/main" id="{BC859911-2100-4088-8EA9-033FB0A8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575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B"/>
                </a:solidFill>
              </a:defRPr>
            </a:pPr>
            <a:r>
              <a:rPr sz="1800" b="1">
                <a:solidFill>
                  <a:srgbClr val="14253B"/>
                </a:solidFill>
              </a:rPr>
              <a:t>技术可行</a:t>
            </a:r>
          </a:p>
        </p:txBody>
      </p:sp>
      <p:sp>
        <p:nvSpPr>
          <p:cNvPr id="13" name="row-desc-1">
            <a:extLst xmlns:a="http://schemas.openxmlformats.org/drawingml/2006/main">
              <a:ext uri="{FF2B5EF4-FFF2-40B4-BE49-F238E27FC236}">
                <a16:creationId xmlns:a16="http://schemas.microsoft.com/office/drawing/2014/main" id="{645774B4-7A63-41AE-B610-3BDBC31E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6"/>
                </a:solidFill>
              </a:defRPr>
            </a:pPr>
            <a:r>
              <a:rPr sz="1350" b="0">
                <a:solidFill>
                  <a:srgbClr val="637286"/>
                </a:solidFill>
              </a:rPr>
              <a:t>数据、接口与安全边界是否明确</a:t>
            </a:r>
          </a:p>
        </p:txBody>
      </p:sp>
      <p:sp>
        <p:nvSpPr>
          <p:cNvPr id="14" name="row-line-1">
            <a:extLst xmlns:a="http://schemas.openxmlformats.org/drawingml/2006/main">
              <a:ext uri="{FF2B5EF4-FFF2-40B4-BE49-F238E27FC236}">
                <a16:creationId xmlns:a16="http://schemas.microsoft.com/office/drawing/2014/main" id="{9F0495DE-515D-4BC5-B7C9-3F9B5CE8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w-n-2">
            <a:extLst xmlns:a="http://schemas.openxmlformats.org/drawingml/2006/main">
              <a:ext uri="{FF2B5EF4-FFF2-40B4-BE49-F238E27FC236}">
                <a16:creationId xmlns:a16="http://schemas.microsoft.com/office/drawing/2014/main" id="{F62FBFCE-9B81-4288-BE32-BEC2BA1C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B2"/>
                </a:solidFill>
              </a:defRPr>
            </a:pPr>
            <a:r>
              <a:rPr sz="1800" b="1">
                <a:solidFill>
                  <a:srgbClr val="2E7DB2"/>
                </a:solidFill>
              </a:rPr>
              <a:t>03</a:t>
            </a:r>
          </a:p>
        </p:txBody>
      </p:sp>
      <p:sp>
        <p:nvSpPr>
          <p:cNvPr id="16" name="row-title-2">
            <a:extLst xmlns:a="http://schemas.openxmlformats.org/drawingml/2006/main">
              <a:ext uri="{FF2B5EF4-FFF2-40B4-BE49-F238E27FC236}">
                <a16:creationId xmlns:a16="http://schemas.microsoft.com/office/drawing/2014/main" id="{24C564F5-2441-4FC2-A07F-CB536603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24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B"/>
                </a:solidFill>
              </a:defRPr>
            </a:pPr>
            <a:r>
              <a:rPr sz="1800" b="1">
                <a:solidFill>
                  <a:srgbClr val="14253B"/>
                </a:solidFill>
              </a:rPr>
              <a:t>交付可控</a:t>
            </a:r>
          </a:p>
        </p:txBody>
      </p:sp>
      <p:sp>
        <p:nvSpPr>
          <p:cNvPr id="17" name="row-desc-2">
            <a:extLst xmlns:a="http://schemas.openxmlformats.org/drawingml/2006/main">
              <a:ext uri="{FF2B5EF4-FFF2-40B4-BE49-F238E27FC236}">
                <a16:creationId xmlns:a16="http://schemas.microsoft.com/office/drawing/2014/main" id="{F7D91C03-4EB5-4937-9DEB-C9502C61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243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6"/>
                </a:solidFill>
              </a:defRPr>
            </a:pPr>
            <a:r>
              <a:rPr sz="1350" b="0">
                <a:solidFill>
                  <a:srgbClr val="637286"/>
                </a:solidFill>
              </a:rPr>
              <a:t>是否具备阶段目标与验收口径</a:t>
            </a:r>
          </a:p>
        </p:txBody>
      </p:sp>
      <p:sp>
        <p:nvSpPr>
          <p:cNvPr id="18" name="row-line-2">
            <a:extLst xmlns:a="http://schemas.openxmlformats.org/drawingml/2006/main">
              <a:ext uri="{FF2B5EF4-FFF2-40B4-BE49-F238E27FC236}">
                <a16:creationId xmlns:a16="http://schemas.microsoft.com/office/drawing/2014/main" id="{AE5479C0-DE70-4860-AF1D-5CC882FC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6638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cfd0518074b5b"/>
          <a:stretch xmlns:a="http://schemas.openxmlformats.org/drawingml/2006/main"/>
        </p:blipFill>
        <p:spPr>
          <a:xfrm xmlns:a="http://schemas.openxmlformats.org/drawingml/2006/main">
            <a:off x="685800" y="304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brand-72-32">
            <a:extLst xmlns:a="http://schemas.openxmlformats.org/drawingml/2006/main">
              <a:ext uri="{FF2B5EF4-FFF2-40B4-BE49-F238E27FC236}">
                <a16:creationId xmlns:a16="http://schemas.microsoft.com/office/drawing/2014/main" id="{A89B2843-C4BB-4FFE-B889-25CCA087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B"/>
                </a:solidFill>
              </a:defRPr>
            </a:pPr>
            <a:r>
              <a:rPr sz="1650" b="1">
                <a:solidFill>
                  <a:srgbClr val="14253B"/>
                </a:solidFill>
              </a:rPr>
              <a:t>DriveMate</a:t>
            </a:r>
          </a:p>
        </p:txBody>
      </p:sp>
      <p:sp>
        <p:nvSpPr>
          <p:cNvPr id="3" name="exec-rule-4">
            <a:extLst xmlns:a="http://schemas.openxmlformats.org/drawingml/2006/main">
              <a:ext uri="{FF2B5EF4-FFF2-40B4-BE49-F238E27FC236}">
                <a16:creationId xmlns:a16="http://schemas.microsoft.com/office/drawing/2014/main" id="{BF4CC1A3-FFFD-4A16-82F0-100BDAF8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35867D9F-9A64-495A-841F-E8DBC842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096"/>
                </a:solidFill>
              </a:defRPr>
            </a:pPr>
            <a:r>
              <a:rPr sz="750" b="1">
                <a:solidFill>
                  <a:srgbClr val="718096"/>
                </a:solidFill>
              </a:rPr>
              <a:t>DRIVEMATE · EXECUTIVE BRIEF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6DDC92D7-9CD1-4FDE-99C3-1A83D4AF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096"/>
                </a:solidFill>
              </a:defRPr>
            </a:pPr>
            <a:r>
              <a:rPr sz="750" b="1">
                <a:solidFill>
                  <a:srgbClr val="718096"/>
                </a:solidFill>
              </a:rPr>
              <a:t>04</a:t>
            </a:r>
          </a:p>
        </p:txBody>
      </p:sp>
      <p:sp>
        <p:nvSpPr>
          <p:cNvPr id="6" name="data-title">
            <a:extLst xmlns:a="http://schemas.openxmlformats.org/drawingml/2006/main">
              <a:ext uri="{FF2B5EF4-FFF2-40B4-BE49-F238E27FC236}">
                <a16:creationId xmlns:a16="http://schemas.microsoft.com/office/drawing/2014/main" id="{E8DA0AC4-0B3A-43D7-A1E1-8F348D6F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53B"/>
                </a:solidFill>
              </a:defRPr>
            </a:pPr>
            <a:r>
              <a:rPr sz="2850" b="1">
                <a:solidFill>
                  <a:srgbClr val="14253B"/>
                </a:solidFill>
              </a:rPr>
              <a:t>数据页突出结论，不堆叠指标</a:t>
            </a:r>
          </a:p>
        </p:txBody>
      </p:sp>
      <p:sp>
        <p:nvSpPr>
          <p:cNvPr id="7" name="data-panel">
            <a:extLst xmlns:a="http://schemas.openxmlformats.org/drawingml/2006/main">
              <a:ext uri="{FF2B5EF4-FFF2-40B4-BE49-F238E27FC236}">
                <a16:creationId xmlns:a16="http://schemas.microsoft.com/office/drawing/2014/main" id="{8EBA8B4E-B8C0-4CF3-8D0A-7F4BF266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E3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ata-value">
            <a:extLst xmlns:a="http://schemas.openxmlformats.org/drawingml/2006/main">
              <a:ext uri="{FF2B5EF4-FFF2-40B4-BE49-F238E27FC236}">
                <a16:creationId xmlns:a16="http://schemas.microsoft.com/office/drawing/2014/main" id="{23158408-B6A3-46B8-A090-67207E72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XX%</a:t>
            </a:r>
          </a:p>
        </p:txBody>
      </p:sp>
      <p:sp>
        <p:nvSpPr>
          <p:cNvPr id="9" name="data-label">
            <a:extLst xmlns:a="http://schemas.openxmlformats.org/drawingml/2006/main">
              <a:ext uri="{FF2B5EF4-FFF2-40B4-BE49-F238E27FC236}">
                <a16:creationId xmlns:a16="http://schemas.microsoft.com/office/drawing/2014/main" id="{F22A7B65-2F48-4E45-B880-F2152EEA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8D9E8"/>
                </a:solidFill>
              </a:defRPr>
            </a:pPr>
            <a:r>
              <a:rPr sz="1575" b="0">
                <a:solidFill>
                  <a:srgbClr val="C8D9E8"/>
                </a:solidFill>
              </a:rPr>
              <a:t>核心指标名称</a:t>
            </a:r>
          </a:p>
        </p:txBody>
      </p:sp>
      <p:sp>
        <p:nvSpPr>
          <p:cNvPr id="10" name="data-note">
            <a:extLst xmlns:a="http://schemas.openxmlformats.org/drawingml/2006/main">
              <a:ext uri="{FF2B5EF4-FFF2-40B4-BE49-F238E27FC236}">
                <a16:creationId xmlns:a16="http://schemas.microsoft.com/office/drawing/2014/main" id="{6B9B121F-4C48-438E-AC78-FEBA8FE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A9BF"/>
                </a:solidFill>
              </a:defRPr>
            </a:pPr>
            <a:r>
              <a:rPr sz="1050" b="0">
                <a:solidFill>
                  <a:srgbClr val="8FA9BF"/>
                </a:solidFill>
              </a:rPr>
              <a:t>数据口径 / 时间范围 / 样本范围</a:t>
            </a:r>
          </a:p>
        </p:txBody>
      </p:sp>
      <p:sp>
        <p:nvSpPr>
          <p:cNvPr id="11" name="data-insight">
            <a:extLst xmlns:a="http://schemas.openxmlformats.org/drawingml/2006/main">
              <a:ext uri="{FF2B5EF4-FFF2-40B4-BE49-F238E27FC236}">
                <a16:creationId xmlns:a16="http://schemas.microsoft.com/office/drawing/2014/main" id="{77338815-93C3-494E-9212-72D2D877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53B"/>
                </a:solidFill>
              </a:defRPr>
            </a:pPr>
            <a:r>
              <a:rPr sz="1875" b="1">
                <a:solidFill>
                  <a:srgbClr val="14253B"/>
                </a:solidFill>
              </a:rPr>
              <a:t>关键洞察</a:t>
            </a:r>
          </a:p>
        </p:txBody>
      </p:sp>
      <p:sp>
        <p:nvSpPr>
          <p:cNvPr id="12" name="data-copy">
            <a:extLst xmlns:a="http://schemas.openxmlformats.org/drawingml/2006/main">
              <a:ext uri="{FF2B5EF4-FFF2-40B4-BE49-F238E27FC236}">
                <a16:creationId xmlns:a16="http://schemas.microsoft.com/office/drawing/2014/main" id="{3876625C-A063-4C01-AA1F-9D7FD96D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286"/>
                </a:solidFill>
              </a:defRPr>
            </a:pPr>
            <a:r>
              <a:rPr sz="1425" b="0">
                <a:solidFill>
                  <a:srgbClr val="637286"/>
                </a:solidFill>
              </a:rPr>
              <a:t>用两至三句话说明指标意味着什么、为什么重要，以及它如何影响下一步决策。</a:t>
            </a:r>
          </a:p>
        </p:txBody>
      </p:sp>
      <p:sp>
        <p:nvSpPr>
          <p:cNvPr id="13" name="data-accent">
            <a:extLst xmlns:a="http://schemas.openxmlformats.org/drawingml/2006/main">
              <a:ext uri="{FF2B5EF4-FFF2-40B4-BE49-F238E27FC236}">
                <a16:creationId xmlns:a16="http://schemas.microsoft.com/office/drawing/2014/main" id="{9C901BA3-7C2D-4D50-B1D2-78089865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A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7273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a7affc5d94354"/>
          <a:stretch xmlns:a="http://schemas.openxmlformats.org/drawingml/2006/main"/>
        </p:blipFill>
        <p:spPr>
          <a:xfrm xmlns:a="http://schemas.openxmlformats.org/drawingml/2006/main">
            <a:off x="685800" y="304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brand-72-32">
            <a:extLst xmlns:a="http://schemas.openxmlformats.org/drawingml/2006/main">
              <a:ext uri="{FF2B5EF4-FFF2-40B4-BE49-F238E27FC236}">
                <a16:creationId xmlns:a16="http://schemas.microsoft.com/office/drawing/2014/main" id="{EDAA618A-9946-4BB5-927F-37B943B3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B"/>
                </a:solidFill>
              </a:defRPr>
            </a:pPr>
            <a:r>
              <a:rPr sz="1650" b="1">
                <a:solidFill>
                  <a:srgbClr val="14253B"/>
                </a:solidFill>
              </a:rPr>
              <a:t>DriveMate</a:t>
            </a:r>
          </a:p>
        </p:txBody>
      </p:sp>
      <p:sp>
        <p:nvSpPr>
          <p:cNvPr id="3" name="exec-rule-5">
            <a:extLst xmlns:a="http://schemas.openxmlformats.org/drawingml/2006/main">
              <a:ext uri="{FF2B5EF4-FFF2-40B4-BE49-F238E27FC236}">
                <a16:creationId xmlns:a16="http://schemas.microsoft.com/office/drawing/2014/main" id="{B4E01269-AAAB-44B6-A60F-90255C8C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DF7D9F5F-ADDC-4E10-9519-8AB5DF9A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096"/>
                </a:solidFill>
              </a:defRPr>
            </a:pPr>
            <a:r>
              <a:rPr sz="750" b="1">
                <a:solidFill>
                  <a:srgbClr val="718096"/>
                </a:solidFill>
              </a:rPr>
              <a:t>DRIVEMATE · EXECUTIVE BRIEF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3624697D-5189-4AB0-AB74-1FE69651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096"/>
                </a:solidFill>
              </a:defRPr>
            </a:pPr>
            <a:r>
              <a:rPr sz="750" b="1">
                <a:solidFill>
                  <a:srgbClr val="718096"/>
                </a:solidFill>
              </a:rPr>
              <a:t>05</a:t>
            </a:r>
          </a:p>
        </p:txBody>
      </p:sp>
      <p:sp>
        <p:nvSpPr>
          <p:cNvPr id="6" name="plan-title">
            <a:extLst xmlns:a="http://schemas.openxmlformats.org/drawingml/2006/main">
              <a:ext uri="{FF2B5EF4-FFF2-40B4-BE49-F238E27FC236}">
                <a16:creationId xmlns:a16="http://schemas.microsoft.com/office/drawing/2014/main" id="{D109F7CD-14D8-4497-A825-F6C37E9C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53B"/>
                </a:solidFill>
              </a:defRPr>
            </a:pPr>
            <a:r>
              <a:rPr sz="2850" b="1">
                <a:solidFill>
                  <a:srgbClr val="14253B"/>
                </a:solidFill>
              </a:rPr>
              <a:t>四个里程碑，把方案变成可验收交付</a:t>
            </a:r>
          </a:p>
        </p:txBody>
      </p:sp>
      <p:sp>
        <p:nvSpPr>
          <p:cNvPr id="7" name="phase-top-0">
            <a:extLst xmlns:a="http://schemas.openxmlformats.org/drawingml/2006/main">
              <a:ext uri="{FF2B5EF4-FFF2-40B4-BE49-F238E27FC236}">
                <a16:creationId xmlns:a16="http://schemas.microsoft.com/office/drawing/2014/main" id="{627008F3-C748-403C-9073-F032A383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384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E7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code-0">
            <a:extLst xmlns:a="http://schemas.openxmlformats.org/drawingml/2006/main">
              <a:ext uri="{FF2B5EF4-FFF2-40B4-BE49-F238E27FC236}">
                <a16:creationId xmlns:a16="http://schemas.microsoft.com/office/drawing/2014/main" id="{18151544-B88E-4358-A46F-58ADD91E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DB2"/>
                </a:solidFill>
              </a:defRPr>
            </a:pPr>
            <a:r>
              <a:rPr sz="1125" b="1">
                <a:solidFill>
                  <a:srgbClr val="2E7DB2"/>
                </a:solidFill>
              </a:rPr>
              <a:t>M1</a:t>
            </a:r>
          </a:p>
        </p:txBody>
      </p:sp>
      <p:sp>
        <p:nvSpPr>
          <p:cNvPr id="9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25595C46-E8CE-433B-B25C-D0C19764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53B"/>
                </a:solidFill>
              </a:defRPr>
            </a:pPr>
            <a:r>
              <a:rPr sz="1875" b="1">
                <a:solidFill>
                  <a:srgbClr val="14253B"/>
                </a:solidFill>
              </a:rPr>
              <a:t>范围确认</a:t>
            </a:r>
          </a:p>
        </p:txBody>
      </p:sp>
      <p:sp>
        <p:nvSpPr>
          <p:cNvPr id="10" name="phase-desc-0">
            <a:extLst xmlns:a="http://schemas.openxmlformats.org/drawingml/2006/main">
              <a:ext uri="{FF2B5EF4-FFF2-40B4-BE49-F238E27FC236}">
                <a16:creationId xmlns:a16="http://schemas.microsoft.com/office/drawing/2014/main" id="{57C9EDF9-0794-4D7A-B672-F473C754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6"/>
                </a:solidFill>
              </a:defRPr>
            </a:pPr>
            <a:r>
              <a:rPr sz="1275" b="0">
                <a:solidFill>
                  <a:srgbClr val="637286"/>
                </a:solidFill>
              </a:rPr>
              <a:t>需求与边界</a:t>
            </a:r>
          </a:p>
        </p:txBody>
      </p:sp>
      <p:sp>
        <p:nvSpPr>
          <p:cNvPr id="11" name="phase-date-0">
            <a:extLst xmlns:a="http://schemas.openxmlformats.org/drawingml/2006/main">
              <a:ext uri="{FF2B5EF4-FFF2-40B4-BE49-F238E27FC236}">
                <a16:creationId xmlns:a16="http://schemas.microsoft.com/office/drawing/2014/main" id="{4563BFA8-7B6F-45F7-98AC-321C06F7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6"/>
                </a:solidFill>
              </a:defRPr>
            </a:pPr>
            <a:r>
              <a:rPr sz="1050" b="0">
                <a:solidFill>
                  <a:srgbClr val="637286"/>
                </a:solidFill>
              </a:rPr>
              <a:t>YYYY.MM</a:t>
            </a:r>
          </a:p>
        </p:txBody>
      </p:sp>
      <p:sp>
        <p:nvSpPr>
          <p:cNvPr id="12" name="phase-top-1">
            <a:extLst xmlns:a="http://schemas.openxmlformats.org/drawingml/2006/main">
              <a:ext uri="{FF2B5EF4-FFF2-40B4-BE49-F238E27FC236}">
                <a16:creationId xmlns:a16="http://schemas.microsoft.com/office/drawing/2014/main" id="{1987BCB7-C941-4E78-95AF-EDC23435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4384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E7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hase-code-1">
            <a:extLst xmlns:a="http://schemas.openxmlformats.org/drawingml/2006/main">
              <a:ext uri="{FF2B5EF4-FFF2-40B4-BE49-F238E27FC236}">
                <a16:creationId xmlns:a16="http://schemas.microsoft.com/office/drawing/2014/main" id="{C4EA62C4-FBC9-4949-B746-4822A402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DB2"/>
                </a:solidFill>
              </a:defRPr>
            </a:pPr>
            <a:r>
              <a:rPr sz="1125" b="1">
                <a:solidFill>
                  <a:srgbClr val="2E7DB2"/>
                </a:solidFill>
              </a:rPr>
              <a:t>M2</a:t>
            </a:r>
          </a:p>
        </p:txBody>
      </p:sp>
      <p:sp>
        <p:nvSpPr>
          <p:cNvPr id="14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28D70D47-E377-482B-87E6-FA1575F2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623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53B"/>
                </a:solidFill>
              </a:defRPr>
            </a:pPr>
            <a:r>
              <a:rPr sz="1875" b="1">
                <a:solidFill>
                  <a:srgbClr val="14253B"/>
                </a:solidFill>
              </a:rPr>
              <a:t>方案冻结</a:t>
            </a:r>
          </a:p>
        </p:txBody>
      </p:sp>
      <p:sp>
        <p:nvSpPr>
          <p:cNvPr id="15" name="phase-desc-1">
            <a:extLst xmlns:a="http://schemas.openxmlformats.org/drawingml/2006/main">
              <a:ext uri="{FF2B5EF4-FFF2-40B4-BE49-F238E27FC236}">
                <a16:creationId xmlns:a16="http://schemas.microsoft.com/office/drawing/2014/main" id="{16CDD6F1-3A01-426D-BAAD-233C4CF2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6"/>
                </a:solidFill>
              </a:defRPr>
            </a:pPr>
            <a:r>
              <a:rPr sz="1275" b="0">
                <a:solidFill>
                  <a:srgbClr val="637286"/>
                </a:solidFill>
              </a:rPr>
              <a:t>接口与体验</a:t>
            </a:r>
          </a:p>
        </p:txBody>
      </p:sp>
      <p:sp>
        <p:nvSpPr>
          <p:cNvPr id="16" name="phase-date-1">
            <a:extLst xmlns:a="http://schemas.openxmlformats.org/drawingml/2006/main">
              <a:ext uri="{FF2B5EF4-FFF2-40B4-BE49-F238E27FC236}">
                <a16:creationId xmlns:a16="http://schemas.microsoft.com/office/drawing/2014/main" id="{356A5B4C-BD93-4BB2-93D7-06944BB6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72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6"/>
                </a:solidFill>
              </a:defRPr>
            </a:pPr>
            <a:r>
              <a:rPr sz="1050" b="0">
                <a:solidFill>
                  <a:srgbClr val="637286"/>
                </a:solidFill>
              </a:rPr>
              <a:t>YYYY.MM</a:t>
            </a:r>
          </a:p>
        </p:txBody>
      </p:sp>
      <p:sp>
        <p:nvSpPr>
          <p:cNvPr id="17" name="phase-top-2">
            <a:extLst xmlns:a="http://schemas.openxmlformats.org/drawingml/2006/main">
              <a:ext uri="{FF2B5EF4-FFF2-40B4-BE49-F238E27FC236}">
                <a16:creationId xmlns:a16="http://schemas.microsoft.com/office/drawing/2014/main" id="{2DB8473E-4A4F-4142-AA79-A649B9C9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4384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E7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hase-code-2">
            <a:extLst xmlns:a="http://schemas.openxmlformats.org/drawingml/2006/main">
              <a:ext uri="{FF2B5EF4-FFF2-40B4-BE49-F238E27FC236}">
                <a16:creationId xmlns:a16="http://schemas.microsoft.com/office/drawing/2014/main" id="{3DE698FC-68C3-4EBF-847A-90F5E22B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DB2"/>
                </a:solidFill>
              </a:defRPr>
            </a:pPr>
            <a:r>
              <a:rPr sz="1125" b="1">
                <a:solidFill>
                  <a:srgbClr val="2E7DB2"/>
                </a:solidFill>
              </a:rPr>
              <a:t>M3</a:t>
            </a:r>
          </a:p>
        </p:txBody>
      </p:sp>
      <p:sp>
        <p:nvSpPr>
          <p:cNvPr id="19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6EC8C1D4-1ED5-4350-87F6-C44E207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53B"/>
                </a:solidFill>
              </a:defRPr>
            </a:pPr>
            <a:r>
              <a:rPr sz="1875" b="1">
                <a:solidFill>
                  <a:srgbClr val="14253B"/>
                </a:solidFill>
              </a:rPr>
              <a:t>联调验证</a:t>
            </a:r>
          </a:p>
        </p:txBody>
      </p:sp>
      <p:sp>
        <p:nvSpPr>
          <p:cNvPr id="20" name="phase-desc-2">
            <a:extLst xmlns:a="http://schemas.openxmlformats.org/drawingml/2006/main">
              <a:ext uri="{FF2B5EF4-FFF2-40B4-BE49-F238E27FC236}">
                <a16:creationId xmlns:a16="http://schemas.microsoft.com/office/drawing/2014/main" id="{1280091B-0F3A-484F-B502-E5AE790D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6"/>
                </a:solidFill>
              </a:defRPr>
            </a:pPr>
            <a:r>
              <a:rPr sz="1275" b="0">
                <a:solidFill>
                  <a:srgbClr val="637286"/>
                </a:solidFill>
              </a:rPr>
              <a:t>场景与风险</a:t>
            </a:r>
          </a:p>
        </p:txBody>
      </p:sp>
      <p:sp>
        <p:nvSpPr>
          <p:cNvPr id="21" name="phase-date-2">
            <a:extLst xmlns:a="http://schemas.openxmlformats.org/drawingml/2006/main">
              <a:ext uri="{FF2B5EF4-FFF2-40B4-BE49-F238E27FC236}">
                <a16:creationId xmlns:a16="http://schemas.microsoft.com/office/drawing/2014/main" id="{7E1CD6FF-C21C-4810-BB55-7B69F775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6"/>
                </a:solidFill>
              </a:defRPr>
            </a:pPr>
            <a:r>
              <a:rPr sz="1050" b="0">
                <a:solidFill>
                  <a:srgbClr val="637286"/>
                </a:solidFill>
              </a:rPr>
              <a:t>YYYY.MM</a:t>
            </a:r>
          </a:p>
        </p:txBody>
      </p:sp>
      <p:sp>
        <p:nvSpPr>
          <p:cNvPr id="22" name="phase-top-3">
            <a:extLst xmlns:a="http://schemas.openxmlformats.org/drawingml/2006/main">
              <a:ext uri="{FF2B5EF4-FFF2-40B4-BE49-F238E27FC236}">
                <a16:creationId xmlns:a16="http://schemas.microsoft.com/office/drawing/2014/main" id="{C7E70952-2B51-4788-82B9-56315934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47900"/>
            <a:ext cx="24384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9A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hase-code-3">
            <a:extLst xmlns:a="http://schemas.openxmlformats.org/drawingml/2006/main">
              <a:ext uri="{FF2B5EF4-FFF2-40B4-BE49-F238E27FC236}">
                <a16:creationId xmlns:a16="http://schemas.microsoft.com/office/drawing/2014/main" id="{86973963-6122-4586-9355-447EE826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DB2"/>
                </a:solidFill>
              </a:defRPr>
            </a:pPr>
            <a:r>
              <a:rPr sz="1125" b="1">
                <a:solidFill>
                  <a:srgbClr val="2E7DB2"/>
                </a:solidFill>
              </a:rPr>
              <a:t>M4</a:t>
            </a:r>
          </a:p>
        </p:txBody>
      </p:sp>
      <p:sp>
        <p:nvSpPr>
          <p:cNvPr id="24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9D499B1D-0A4E-4E61-8081-A4928D66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623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53B"/>
                </a:solidFill>
              </a:defRPr>
            </a:pPr>
            <a:r>
              <a:rPr sz="1875" b="1">
                <a:solidFill>
                  <a:srgbClr val="14253B"/>
                </a:solidFill>
              </a:rPr>
              <a:t>验收上线</a:t>
            </a:r>
          </a:p>
        </p:txBody>
      </p:sp>
      <p:sp>
        <p:nvSpPr>
          <p:cNvPr id="25" name="phase-desc-3">
            <a:extLst xmlns:a="http://schemas.openxmlformats.org/drawingml/2006/main">
              <a:ext uri="{FF2B5EF4-FFF2-40B4-BE49-F238E27FC236}">
                <a16:creationId xmlns:a16="http://schemas.microsoft.com/office/drawing/2014/main" id="{1BF98187-7B4E-4867-AC6D-F9A8B230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6"/>
                </a:solidFill>
              </a:defRPr>
            </a:pPr>
            <a:r>
              <a:rPr sz="1275" b="0">
                <a:solidFill>
                  <a:srgbClr val="637286"/>
                </a:solidFill>
              </a:rPr>
              <a:t>指标与移交</a:t>
            </a:r>
          </a:p>
        </p:txBody>
      </p:sp>
      <p:sp>
        <p:nvSpPr>
          <p:cNvPr id="26" name="phase-date-3">
            <a:extLst xmlns:a="http://schemas.openxmlformats.org/drawingml/2006/main">
              <a:ext uri="{FF2B5EF4-FFF2-40B4-BE49-F238E27FC236}">
                <a16:creationId xmlns:a16="http://schemas.microsoft.com/office/drawing/2014/main" id="{1221DF17-0EA9-4082-B041-DFCBB9DA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72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6"/>
                </a:solidFill>
              </a:defRPr>
            </a:pPr>
            <a:r>
              <a:rPr sz="1050" b="0">
                <a:solidFill>
                  <a:srgbClr val="637286"/>
                </a:solidFill>
              </a:rPr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1782845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31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9d0d78fb14612"/>
          <a:stretch xmlns:a="http://schemas.openxmlformats.org/drawingml/2006/main"/>
        </p:blipFill>
        <p:spPr>
          <a:xfrm xmlns:a="http://schemas.openxmlformats.org/drawingml/2006/main">
            <a:off x="685800" y="5905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7BA9C9DC-4AFC-4F2B-AAF2-9737782B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7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DriveMate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52E4D9A-3BE7-4FA9-B6AA-210B0F2B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请确认下一步决策</a:t>
            </a:r>
          </a:p>
        </p:txBody>
      </p:sp>
      <p:sp>
        <p:nvSpPr>
          <p:cNvPr id="4" name="close-sub">
            <a:extLst xmlns:a="http://schemas.openxmlformats.org/drawingml/2006/main">
              <a:ext uri="{FF2B5EF4-FFF2-40B4-BE49-F238E27FC236}">
                <a16:creationId xmlns:a16="http://schemas.microsoft.com/office/drawing/2014/main" id="{5CE72910-B140-4EFB-84FC-9B578125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9E8"/>
                </a:solidFill>
              </a:defRPr>
            </a:pPr>
            <a:r>
              <a:rPr sz="1650" b="0">
                <a:solidFill>
                  <a:srgbClr val="C8D9E8"/>
                </a:solidFill>
              </a:rPr>
              <a:t>范围 · 负责人 · 时间点</a:t>
            </a:r>
          </a:p>
        </p:txBody>
      </p:sp>
      <p:sp>
        <p:nvSpPr>
          <p:cNvPr id="5" name="close-line">
            <a:extLst xmlns:a="http://schemas.openxmlformats.org/drawingml/2006/main">
              <a:ext uri="{FF2B5EF4-FFF2-40B4-BE49-F238E27FC236}">
                <a16:creationId xmlns:a16="http://schemas.microsoft.com/office/drawing/2014/main" id="{F33E3F46-CC59-46E9-9FD4-10498381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contact">
            <a:extLst xmlns:a="http://schemas.openxmlformats.org/drawingml/2006/main">
              <a:ext uri="{FF2B5EF4-FFF2-40B4-BE49-F238E27FC236}">
                <a16:creationId xmlns:a16="http://schemas.microsoft.com/office/drawing/2014/main" id="{11CBB77E-2E20-4EA7-8322-830F23FA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联系人  |  邮箱  |  电话</a:t>
            </a:r>
          </a:p>
        </p:txBody>
      </p:sp>
    </p:spTree>
    <p:extLst>
      <p:ext uri="{BB962C8B-B14F-4D97-AF65-F5344CB8AC3E}">
        <p14:creationId xmlns:p14="http://schemas.microsoft.com/office/powerpoint/2010/main" val="1951204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2026-09-03T07:52:37.8120000Z</dcterms:created>
  <dcterms:modified xsi:type="dcterms:W3CDTF">2026-09-03T07:52:37.8120000Z</dcterms:modified>
</coreProperties>
</file>